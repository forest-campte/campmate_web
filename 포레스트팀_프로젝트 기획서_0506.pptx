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67" r:id="rId3"/>
    <p:sldId id="282" r:id="rId4"/>
    <p:sldId id="258" r:id="rId5"/>
    <p:sldId id="263" r:id="rId6"/>
    <p:sldId id="294" r:id="rId7"/>
    <p:sldId id="259" r:id="rId8"/>
    <p:sldId id="290" r:id="rId9"/>
    <p:sldId id="291" r:id="rId10"/>
    <p:sldId id="292" r:id="rId11"/>
    <p:sldId id="293" r:id="rId12"/>
    <p:sldId id="274" r:id="rId13"/>
    <p:sldId id="289" r:id="rId14"/>
    <p:sldId id="283" r:id="rId15"/>
    <p:sldId id="284" r:id="rId16"/>
    <p:sldId id="285" r:id="rId17"/>
    <p:sldId id="286" r:id="rId18"/>
    <p:sldId id="287" r:id="rId19"/>
    <p:sldId id="288" r:id="rId20"/>
    <p:sldId id="295" r:id="rId21"/>
    <p:sldId id="296" r:id="rId22"/>
    <p:sldId id="29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A2D23F-7CFD-F364-3EAF-BAFF2F236E68}" v="307" dt="2025-04-21T08:40:54.2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7" autoAdjust="0"/>
  </p:normalViewPr>
  <p:slideViewPr>
    <p:cSldViewPr snapToGrid="0">
      <p:cViewPr varScale="1">
        <p:scale>
          <a:sx n="102" d="100"/>
          <a:sy n="102" d="100"/>
        </p:scale>
        <p:origin x="960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AB8D48A-93B4-B416-11B6-D68159CF1BF2}"/>
              </a:ext>
            </a:extLst>
          </p:cNvPr>
          <p:cNvGrpSpPr/>
          <p:nvPr userDrawn="1"/>
        </p:nvGrpSpPr>
        <p:grpSpPr>
          <a:xfrm>
            <a:off x="1" y="-40640"/>
            <a:ext cx="12191999" cy="6898642"/>
            <a:chOff x="1" y="-40640"/>
            <a:chExt cx="12191999" cy="6898642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F6C4450-849D-7251-C0A4-22917EF30BBC}"/>
                </a:ext>
              </a:extLst>
            </p:cNvPr>
            <p:cNvSpPr/>
            <p:nvPr userDrawn="1"/>
          </p:nvSpPr>
          <p:spPr>
            <a:xfrm>
              <a:off x="1" y="-40640"/>
              <a:ext cx="12191999" cy="68986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이등변 삼각형 8">
              <a:extLst>
                <a:ext uri="{FF2B5EF4-FFF2-40B4-BE49-F238E27FC236}">
                  <a16:creationId xmlns:a16="http://schemas.microsoft.com/office/drawing/2014/main" id="{9777A775-2313-6745-096D-8B5DE05F8D60}"/>
                </a:ext>
              </a:extLst>
            </p:cNvPr>
            <p:cNvSpPr/>
            <p:nvPr userDrawn="1"/>
          </p:nvSpPr>
          <p:spPr>
            <a:xfrm rot="5400000">
              <a:off x="452120" y="-452120"/>
              <a:ext cx="6858003" cy="7762241"/>
            </a:xfrm>
            <a:prstGeom prst="triangl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B1CA3C8-1BED-C3CF-EAF6-97459949BD58}"/>
              </a:ext>
            </a:extLst>
          </p:cNvPr>
          <p:cNvGrpSpPr/>
          <p:nvPr userDrawn="1"/>
        </p:nvGrpSpPr>
        <p:grpSpPr>
          <a:xfrm>
            <a:off x="9404355" y="5044122"/>
            <a:ext cx="2787645" cy="1878328"/>
            <a:chOff x="9404355" y="5044122"/>
            <a:chExt cx="2787645" cy="1878328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56EC4DCB-C573-C932-4A7F-6EABEC3D2D2D}"/>
                </a:ext>
              </a:extLst>
            </p:cNvPr>
            <p:cNvGrpSpPr/>
            <p:nvPr userDrawn="1"/>
          </p:nvGrpSpPr>
          <p:grpSpPr>
            <a:xfrm>
              <a:off x="10998201" y="5044122"/>
              <a:ext cx="1193799" cy="1813878"/>
              <a:chOff x="10810239" y="5003483"/>
              <a:chExt cx="1193799" cy="1813878"/>
            </a:xfrm>
          </p:grpSpPr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A08109A5-B6C2-0494-ED3F-5431FB77504C}"/>
                  </a:ext>
                </a:extLst>
              </p:cNvPr>
              <p:cNvSpPr/>
              <p:nvPr userDrawn="1"/>
            </p:nvSpPr>
            <p:spPr>
              <a:xfrm>
                <a:off x="11264899" y="5602922"/>
                <a:ext cx="284480" cy="1214439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구름 16">
                <a:extLst>
                  <a:ext uri="{FF2B5EF4-FFF2-40B4-BE49-F238E27FC236}">
                    <a16:creationId xmlns:a16="http://schemas.microsoft.com/office/drawing/2014/main" id="{26B30796-DF09-0F6C-1F86-19E05F13A8CE}"/>
                  </a:ext>
                </a:extLst>
              </p:cNvPr>
              <p:cNvSpPr/>
              <p:nvPr userDrawn="1"/>
            </p:nvSpPr>
            <p:spPr>
              <a:xfrm>
                <a:off x="10810239" y="5003483"/>
                <a:ext cx="1193799" cy="919797"/>
              </a:xfrm>
              <a:prstGeom prst="cloud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97DBC83C-D94A-A18D-8B81-EA55E4ACD8B1}"/>
                </a:ext>
              </a:extLst>
            </p:cNvPr>
            <p:cNvGrpSpPr/>
            <p:nvPr userDrawn="1"/>
          </p:nvGrpSpPr>
          <p:grpSpPr>
            <a:xfrm>
              <a:off x="10259062" y="5090160"/>
              <a:ext cx="1193799" cy="1813878"/>
              <a:chOff x="10810239" y="5003483"/>
              <a:chExt cx="1193799" cy="1813878"/>
            </a:xfrm>
          </p:grpSpPr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21FAEB68-E259-2F02-A679-5142FAD4D532}"/>
                  </a:ext>
                </a:extLst>
              </p:cNvPr>
              <p:cNvSpPr/>
              <p:nvPr userDrawn="1"/>
            </p:nvSpPr>
            <p:spPr>
              <a:xfrm>
                <a:off x="11264899" y="5602922"/>
                <a:ext cx="284480" cy="1214439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구름 14">
                <a:extLst>
                  <a:ext uri="{FF2B5EF4-FFF2-40B4-BE49-F238E27FC236}">
                    <a16:creationId xmlns:a16="http://schemas.microsoft.com/office/drawing/2014/main" id="{7C092BF7-346C-B7AC-E93E-09BD4FFB0F80}"/>
                  </a:ext>
                </a:extLst>
              </p:cNvPr>
              <p:cNvSpPr/>
              <p:nvPr userDrawn="1"/>
            </p:nvSpPr>
            <p:spPr>
              <a:xfrm>
                <a:off x="10810239" y="5003483"/>
                <a:ext cx="1193799" cy="919797"/>
              </a:xfrm>
              <a:prstGeom prst="cloud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13" name="Picture 2" descr="캠핑 텐트 - 무료 여행개 아이콘">
              <a:extLst>
                <a:ext uri="{FF2B5EF4-FFF2-40B4-BE49-F238E27FC236}">
                  <a16:creationId xmlns:a16="http://schemas.microsoft.com/office/drawing/2014/main" id="{72AF0729-B77F-B641-1804-56EED9176E3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04355" y="5643561"/>
              <a:ext cx="1278889" cy="12788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718760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17AE9-E4FB-44F4-A64C-6067D18C26E6}" type="datetimeFigureOut">
              <a:rPr lang="ko-KR" altLang="en-US" smtClean="0"/>
              <a:t>2025-05-06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EAD4-98F9-45D9-847D-DF7F64B027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8007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17AE9-E4FB-44F4-A64C-6067D18C26E6}" type="datetimeFigureOut">
              <a:rPr lang="ko-KR" altLang="en-US" smtClean="0"/>
              <a:t>2025-05-06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EAD4-98F9-45D9-847D-DF7F64B027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343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17AE9-E4FB-44F4-A64C-6067D18C26E6}" type="datetimeFigureOut">
              <a:rPr lang="ko-KR" altLang="en-US" smtClean="0"/>
              <a:t>2025-05-06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EAD4-98F9-45D9-847D-DF7F64B027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1560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17AE9-E4FB-44F4-A64C-6067D18C26E6}" type="datetimeFigureOut">
              <a:rPr lang="ko-KR" altLang="en-US" smtClean="0"/>
              <a:t>2025-05-06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EAD4-98F9-45D9-847D-DF7F64B027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8485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DA4E80-B347-B7A6-EBCA-CEBA04210591}"/>
              </a:ext>
            </a:extLst>
          </p:cNvPr>
          <p:cNvSpPr/>
          <p:nvPr userDrawn="1"/>
        </p:nvSpPr>
        <p:spPr>
          <a:xfrm>
            <a:off x="0" y="0"/>
            <a:ext cx="12191999" cy="68986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1065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17AE9-E4FB-44F4-A64C-6067D18C26E6}" type="datetimeFigureOut">
              <a:rPr lang="ko-KR" altLang="en-US" smtClean="0"/>
              <a:t>2025-05-06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EAD4-98F9-45D9-847D-DF7F64B027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887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17AE9-E4FB-44F4-A64C-6067D18C26E6}" type="datetimeFigureOut">
              <a:rPr lang="ko-KR" altLang="en-US" smtClean="0"/>
              <a:t>2025-05-06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EAD4-98F9-45D9-847D-DF7F64B027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6762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17AE9-E4FB-44F4-A64C-6067D18C26E6}" type="datetimeFigureOut">
              <a:rPr lang="ko-KR" altLang="en-US" smtClean="0"/>
              <a:t>2025-05-06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EAD4-98F9-45D9-847D-DF7F64B027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7700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17AE9-E4FB-44F4-A64C-6067D18C26E6}" type="datetimeFigureOut">
              <a:rPr lang="ko-KR" altLang="en-US" smtClean="0"/>
              <a:t>2025-05-06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EAD4-98F9-45D9-847D-DF7F64B027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866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17AE9-E4FB-44F4-A64C-6067D18C26E6}" type="datetimeFigureOut">
              <a:rPr lang="ko-KR" altLang="en-US" smtClean="0"/>
              <a:t>2025-05-06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1EAD4-98F9-45D9-847D-DF7F64B027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3663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FE33BFF0-01DA-4058-9891-4A4C725FEAAB}"/>
              </a:ext>
            </a:extLst>
          </p:cNvPr>
          <p:cNvSpPr/>
          <p:nvPr userDrawn="1"/>
        </p:nvSpPr>
        <p:spPr>
          <a:xfrm>
            <a:off x="1" y="-40640"/>
            <a:ext cx="12191999" cy="68986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20FC1D7-6D60-4325-AE7C-0A3B62B0F1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691515"/>
          </a:xfr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3200" kern="1200" dirty="0">
                <a:solidFill>
                  <a:schemeClr val="accent6">
                    <a:lumMod val="50000"/>
                  </a:schemeClr>
                </a:solidFill>
                <a:latin typeface="AngsanaUPC" panose="02020603050405020304" pitchFamily="18" charset="-34"/>
                <a:ea typeface="+mj-ea"/>
                <a:cs typeface="AngsanaUPC" panose="02020603050405020304" pitchFamily="18" charset="-34"/>
              </a:defRPr>
            </a:lvl1pPr>
          </a:lstStyle>
          <a:p>
            <a:r>
              <a:rPr lang="ko-KR" altLang="en-US"/>
              <a:t>목차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C79DD19-641A-4A01-A4EA-4D6725D51E73}"/>
              </a:ext>
            </a:extLst>
          </p:cNvPr>
          <p:cNvGrpSpPr/>
          <p:nvPr userDrawn="1"/>
        </p:nvGrpSpPr>
        <p:grpSpPr>
          <a:xfrm>
            <a:off x="828038" y="1381759"/>
            <a:ext cx="8183882" cy="4166418"/>
            <a:chOff x="828038" y="1381759"/>
            <a:chExt cx="8183882" cy="4166418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8582358D-5DD5-40A7-AE3A-D91D0F2155A9}"/>
                </a:ext>
              </a:extLst>
            </p:cNvPr>
            <p:cNvGrpSpPr/>
            <p:nvPr userDrawn="1"/>
          </p:nvGrpSpPr>
          <p:grpSpPr>
            <a:xfrm>
              <a:off x="838200" y="1381759"/>
              <a:ext cx="8173720" cy="513083"/>
              <a:chOff x="838200" y="1381759"/>
              <a:chExt cx="8173720" cy="513083"/>
            </a:xfrm>
          </p:grpSpPr>
          <p:sp>
            <p:nvSpPr>
              <p:cNvPr id="9" name="이등변 삼각형 8">
                <a:extLst>
                  <a:ext uri="{FF2B5EF4-FFF2-40B4-BE49-F238E27FC236}">
                    <a16:creationId xmlns:a16="http://schemas.microsoft.com/office/drawing/2014/main" id="{2239DCEA-C506-46B3-87BE-D42EA33A7EC3}"/>
                  </a:ext>
                </a:extLst>
              </p:cNvPr>
              <p:cNvSpPr/>
              <p:nvPr userDrawn="1"/>
            </p:nvSpPr>
            <p:spPr>
              <a:xfrm rot="5400000">
                <a:off x="830578" y="1389381"/>
                <a:ext cx="513083" cy="497839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9BA700-1DA9-408B-83D4-6CE93FC6B669}"/>
                  </a:ext>
                </a:extLst>
              </p:cNvPr>
              <p:cNvSpPr txBox="1"/>
              <p:nvPr userDrawn="1"/>
            </p:nvSpPr>
            <p:spPr>
              <a:xfrm>
                <a:off x="1483360" y="1462405"/>
                <a:ext cx="752856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>
                    <a:solidFill>
                      <a:schemeClr val="accent6">
                        <a:lumMod val="50000"/>
                      </a:schemeClr>
                    </a:solidFill>
                    <a:latin typeface="Arial Black" panose="020B0A04020102020204" pitchFamily="34" charset="0"/>
                  </a:rPr>
                  <a:t>작품명</a:t>
                </a:r>
              </a:p>
            </p:txBody>
          </p:sp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B8D7F2BD-202E-4C17-857C-0F03534F894C}"/>
                </a:ext>
              </a:extLst>
            </p:cNvPr>
            <p:cNvGrpSpPr/>
            <p:nvPr userDrawn="1"/>
          </p:nvGrpSpPr>
          <p:grpSpPr>
            <a:xfrm>
              <a:off x="838200" y="2132058"/>
              <a:ext cx="8173720" cy="513083"/>
              <a:chOff x="838200" y="1381759"/>
              <a:chExt cx="8173720" cy="513083"/>
            </a:xfrm>
          </p:grpSpPr>
          <p:sp>
            <p:nvSpPr>
              <p:cNvPr id="23" name="이등변 삼각형 22">
                <a:extLst>
                  <a:ext uri="{FF2B5EF4-FFF2-40B4-BE49-F238E27FC236}">
                    <a16:creationId xmlns:a16="http://schemas.microsoft.com/office/drawing/2014/main" id="{A891603E-B9D4-448E-A927-94B12DB69154}"/>
                  </a:ext>
                </a:extLst>
              </p:cNvPr>
              <p:cNvSpPr/>
              <p:nvPr userDrawn="1"/>
            </p:nvSpPr>
            <p:spPr>
              <a:xfrm rot="5400000">
                <a:off x="830578" y="1389381"/>
                <a:ext cx="513083" cy="497839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98A2C4E-3757-4FA4-B05D-E38DC3826F16}"/>
                  </a:ext>
                </a:extLst>
              </p:cNvPr>
              <p:cNvSpPr txBox="1"/>
              <p:nvPr userDrawn="1"/>
            </p:nvSpPr>
            <p:spPr>
              <a:xfrm>
                <a:off x="1483360" y="1462405"/>
                <a:ext cx="75285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>
                    <a:solidFill>
                      <a:schemeClr val="accent6">
                        <a:lumMod val="50000"/>
                      </a:schemeClr>
                    </a:solidFill>
                    <a:latin typeface="Arial Black" panose="020B0A04020102020204" pitchFamily="34" charset="0"/>
                  </a:rPr>
                  <a:t>작품개요</a:t>
                </a:r>
              </a:p>
            </p:txBody>
          </p:sp>
        </p:grp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259A9343-FFC2-4B4A-9463-2072580398BB}"/>
                </a:ext>
              </a:extLst>
            </p:cNvPr>
            <p:cNvGrpSpPr/>
            <p:nvPr userDrawn="1"/>
          </p:nvGrpSpPr>
          <p:grpSpPr>
            <a:xfrm>
              <a:off x="838200" y="2812556"/>
              <a:ext cx="8173720" cy="513083"/>
              <a:chOff x="838200" y="1381759"/>
              <a:chExt cx="8173720" cy="513083"/>
            </a:xfrm>
          </p:grpSpPr>
          <p:sp>
            <p:nvSpPr>
              <p:cNvPr id="26" name="이등변 삼각형 25">
                <a:extLst>
                  <a:ext uri="{FF2B5EF4-FFF2-40B4-BE49-F238E27FC236}">
                    <a16:creationId xmlns:a16="http://schemas.microsoft.com/office/drawing/2014/main" id="{8AC6085C-6DF2-42AA-A052-630C249114D2}"/>
                  </a:ext>
                </a:extLst>
              </p:cNvPr>
              <p:cNvSpPr/>
              <p:nvPr userDrawn="1"/>
            </p:nvSpPr>
            <p:spPr>
              <a:xfrm rot="5400000">
                <a:off x="830578" y="1389381"/>
                <a:ext cx="513083" cy="497839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F4730EB-1026-42EB-AF09-2920AE0F4644}"/>
                  </a:ext>
                </a:extLst>
              </p:cNvPr>
              <p:cNvSpPr txBox="1"/>
              <p:nvPr userDrawn="1"/>
            </p:nvSpPr>
            <p:spPr>
              <a:xfrm>
                <a:off x="1483360" y="1462405"/>
                <a:ext cx="75285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>
                    <a:solidFill>
                      <a:schemeClr val="accent6">
                        <a:lumMod val="50000"/>
                      </a:schemeClr>
                    </a:solidFill>
                    <a:latin typeface="Arial Black" panose="020B0A04020102020204" pitchFamily="34" charset="0"/>
                  </a:rPr>
                  <a:t>시스템 구조도</a:t>
                </a:r>
              </a:p>
            </p:txBody>
          </p:sp>
        </p:grp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4061C074-D130-42D1-A9B0-6E458A6C5774}"/>
                </a:ext>
              </a:extLst>
            </p:cNvPr>
            <p:cNvGrpSpPr/>
            <p:nvPr userDrawn="1"/>
          </p:nvGrpSpPr>
          <p:grpSpPr>
            <a:xfrm>
              <a:off x="838200" y="3532362"/>
              <a:ext cx="8173720" cy="513083"/>
              <a:chOff x="838200" y="1381759"/>
              <a:chExt cx="8173720" cy="513083"/>
            </a:xfrm>
          </p:grpSpPr>
          <p:sp>
            <p:nvSpPr>
              <p:cNvPr id="29" name="이등변 삼각형 28">
                <a:extLst>
                  <a:ext uri="{FF2B5EF4-FFF2-40B4-BE49-F238E27FC236}">
                    <a16:creationId xmlns:a16="http://schemas.microsoft.com/office/drawing/2014/main" id="{6142D61C-B228-45B2-854F-1A79FB8143AC}"/>
                  </a:ext>
                </a:extLst>
              </p:cNvPr>
              <p:cNvSpPr/>
              <p:nvPr userDrawn="1"/>
            </p:nvSpPr>
            <p:spPr>
              <a:xfrm rot="5400000">
                <a:off x="830578" y="1389381"/>
                <a:ext cx="513083" cy="497839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53C3DA9-55D6-435A-8CFA-4BD05D888DA8}"/>
                  </a:ext>
                </a:extLst>
              </p:cNvPr>
              <p:cNvSpPr txBox="1"/>
              <p:nvPr userDrawn="1"/>
            </p:nvSpPr>
            <p:spPr>
              <a:xfrm>
                <a:off x="1483360" y="1462405"/>
                <a:ext cx="75285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>
                    <a:solidFill>
                      <a:schemeClr val="accent6">
                        <a:lumMod val="50000"/>
                      </a:schemeClr>
                    </a:solidFill>
                    <a:latin typeface="Arial Black" panose="020B0A04020102020204" pitchFamily="34" charset="0"/>
                  </a:rPr>
                  <a:t>핵심 기술</a:t>
                </a:r>
                <a:r>
                  <a:rPr lang="en-US" altLang="ko-KR" sz="1400">
                    <a:solidFill>
                      <a:schemeClr val="accent6">
                        <a:lumMod val="50000"/>
                      </a:schemeClr>
                    </a:solidFill>
                    <a:latin typeface="Arial Black" panose="020B0A04020102020204" pitchFamily="34" charset="0"/>
                  </a:rPr>
                  <a:t>(</a:t>
                </a:r>
                <a:r>
                  <a:rPr lang="ko-KR" altLang="en-US" sz="1400">
                    <a:solidFill>
                      <a:schemeClr val="accent6">
                        <a:lumMod val="50000"/>
                      </a:schemeClr>
                    </a:solidFill>
                    <a:latin typeface="Arial Black" panose="020B0A04020102020204" pitchFamily="34" charset="0"/>
                  </a:rPr>
                  <a:t>주요기능</a:t>
                </a:r>
                <a:r>
                  <a:rPr lang="en-US" altLang="ko-KR" sz="1400">
                    <a:solidFill>
                      <a:schemeClr val="accent6">
                        <a:lumMod val="50000"/>
                      </a:schemeClr>
                    </a:solidFill>
                    <a:latin typeface="Arial Black" panose="020B0A04020102020204" pitchFamily="34" charset="0"/>
                  </a:rPr>
                  <a:t>)</a:t>
                </a:r>
                <a:endParaRPr lang="ko-KR" altLang="en-US" sz="140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</a:endParaRPr>
              </a:p>
            </p:txBody>
          </p:sp>
        </p:grp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F3037D6E-C05C-499A-84F4-E35973062AAC}"/>
                </a:ext>
              </a:extLst>
            </p:cNvPr>
            <p:cNvGrpSpPr/>
            <p:nvPr userDrawn="1"/>
          </p:nvGrpSpPr>
          <p:grpSpPr>
            <a:xfrm>
              <a:off x="828038" y="4281163"/>
              <a:ext cx="8173720" cy="513083"/>
              <a:chOff x="838200" y="1381759"/>
              <a:chExt cx="8173720" cy="513083"/>
            </a:xfrm>
          </p:grpSpPr>
          <p:sp>
            <p:nvSpPr>
              <p:cNvPr id="32" name="이등변 삼각형 31">
                <a:extLst>
                  <a:ext uri="{FF2B5EF4-FFF2-40B4-BE49-F238E27FC236}">
                    <a16:creationId xmlns:a16="http://schemas.microsoft.com/office/drawing/2014/main" id="{9F2197D5-17DB-4185-ABC2-61B2C05696B6}"/>
                  </a:ext>
                </a:extLst>
              </p:cNvPr>
              <p:cNvSpPr/>
              <p:nvPr userDrawn="1"/>
            </p:nvSpPr>
            <p:spPr>
              <a:xfrm rot="5400000">
                <a:off x="830578" y="1389381"/>
                <a:ext cx="513083" cy="497839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E0A0E63-B487-44F6-A4EB-22621BA2E7E2}"/>
                  </a:ext>
                </a:extLst>
              </p:cNvPr>
              <p:cNvSpPr txBox="1"/>
              <p:nvPr userDrawn="1"/>
            </p:nvSpPr>
            <p:spPr>
              <a:xfrm>
                <a:off x="1483360" y="1462405"/>
                <a:ext cx="75285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>
                    <a:solidFill>
                      <a:schemeClr val="accent6">
                        <a:lumMod val="50000"/>
                      </a:schemeClr>
                    </a:solidFill>
                    <a:latin typeface="Arial Black" panose="020B0A04020102020204" pitchFamily="34" charset="0"/>
                  </a:rPr>
                  <a:t>개발환경 및 필요 도구</a:t>
                </a:r>
              </a:p>
            </p:txBody>
          </p:sp>
        </p:grp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F2114EC8-4A29-4F81-8A72-E899B4252AB7}"/>
                </a:ext>
              </a:extLst>
            </p:cNvPr>
            <p:cNvGrpSpPr/>
            <p:nvPr userDrawn="1"/>
          </p:nvGrpSpPr>
          <p:grpSpPr>
            <a:xfrm>
              <a:off x="838200" y="5035094"/>
              <a:ext cx="8173720" cy="513083"/>
              <a:chOff x="838200" y="1381759"/>
              <a:chExt cx="8173720" cy="513083"/>
            </a:xfrm>
          </p:grpSpPr>
          <p:sp>
            <p:nvSpPr>
              <p:cNvPr id="35" name="이등변 삼각형 34">
                <a:extLst>
                  <a:ext uri="{FF2B5EF4-FFF2-40B4-BE49-F238E27FC236}">
                    <a16:creationId xmlns:a16="http://schemas.microsoft.com/office/drawing/2014/main" id="{6C691503-AC2C-4C1E-95A4-E4BF3168C5E1}"/>
                  </a:ext>
                </a:extLst>
              </p:cNvPr>
              <p:cNvSpPr/>
              <p:nvPr userDrawn="1"/>
            </p:nvSpPr>
            <p:spPr>
              <a:xfrm rot="5400000">
                <a:off x="830578" y="1389381"/>
                <a:ext cx="513083" cy="497839"/>
              </a:xfrm>
              <a:prstGeom prst="triangl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C20C9F7-07A8-41FF-AA07-6B9A1D6A5D2D}"/>
                  </a:ext>
                </a:extLst>
              </p:cNvPr>
              <p:cNvSpPr txBox="1"/>
              <p:nvPr userDrawn="1"/>
            </p:nvSpPr>
            <p:spPr>
              <a:xfrm>
                <a:off x="1483360" y="1462405"/>
                <a:ext cx="75285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>
                    <a:solidFill>
                      <a:schemeClr val="accent6">
                        <a:lumMod val="50000"/>
                      </a:schemeClr>
                    </a:solidFill>
                    <a:latin typeface="Arial Black" panose="020B0A04020102020204" pitchFamily="34" charset="0"/>
                  </a:rPr>
                  <a:t>기존 유사 작품 분석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35896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17AE9-E4FB-44F4-A64C-6067D18C26E6}" type="datetimeFigureOut">
              <a:rPr lang="ko-KR" altLang="en-US" smtClean="0"/>
              <a:t>2025-05-06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81EAD4-98F9-45D9-847D-DF7F64B027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3043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5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svg"/><Relationship Id="rId3" Type="http://schemas.openxmlformats.org/officeDocument/2006/relationships/image" Target="../media/image14.png"/><Relationship Id="rId7" Type="http://schemas.openxmlformats.org/officeDocument/2006/relationships/image" Target="../media/image18.svg"/><Relationship Id="rId12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11" Type="http://schemas.openxmlformats.org/officeDocument/2006/relationships/image" Target="../media/image8.svg"/><Relationship Id="rId5" Type="http://schemas.openxmlformats.org/officeDocument/2006/relationships/image" Target="../media/image16.png"/><Relationship Id="rId10" Type="http://schemas.openxmlformats.org/officeDocument/2006/relationships/image" Target="../media/image7.png"/><Relationship Id="rId4" Type="http://schemas.openxmlformats.org/officeDocument/2006/relationships/image" Target="../media/image15.svg"/><Relationship Id="rId9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C1A5E6-BD0B-4817-841F-80B6689C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/>
          <a:p>
            <a:r>
              <a:rPr lang="ko-KR" altLang="en-US" b="1" dirty="0" err="1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포레스트팀</a:t>
            </a:r>
            <a:r>
              <a:rPr lang="ko-KR" altLang="en-US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br>
              <a:rPr lang="en-US" altLang="ko-KR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</a:br>
            <a:r>
              <a:rPr lang="ko-KR" altLang="en-US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작품 기획서</a:t>
            </a:r>
            <a:endParaRPr lang="ko-KR" altLang="en-US" b="1" dirty="0">
              <a:solidFill>
                <a:schemeClr val="accent6">
                  <a:lumMod val="50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C49554A-B39E-4257-8D99-33814E04C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5364669" cy="150018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컴퓨터정보공학과 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PH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반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팀원 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: 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박상돈 </a:t>
            </a:r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곽경민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최대환 </a:t>
            </a:r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이채현</a:t>
            </a:r>
            <a:endParaRPr lang="ko-KR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D7F7450-7A0F-D431-8284-81D4789493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4749" y="3136106"/>
            <a:ext cx="1151770" cy="1151770"/>
          </a:xfrm>
          <a:prstGeom prst="rect">
            <a:avLst/>
          </a:prstGeom>
          <a:effectLst>
            <a:softEdge rad="38100"/>
          </a:effectLst>
        </p:spPr>
      </p:pic>
    </p:spTree>
    <p:extLst>
      <p:ext uri="{BB962C8B-B14F-4D97-AF65-F5344CB8AC3E}">
        <p14:creationId xmlns:p14="http://schemas.microsoft.com/office/powerpoint/2010/main" val="347099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4EEB1-C61B-5823-67E0-AA48CFBA9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3EC041-5610-C238-F2D5-D5381E086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1635" y="874880"/>
            <a:ext cx="2124075" cy="1325563"/>
          </a:xfrm>
        </p:spPr>
        <p:txBody>
          <a:bodyPr>
            <a:normAutofit/>
          </a:bodyPr>
          <a:lstStyle/>
          <a:p>
            <a:r>
              <a:rPr lang="ko-KR" altLang="en-US" sz="6000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목차</a:t>
            </a:r>
            <a:endParaRPr lang="ko-KR" altLang="en-US" sz="3600" b="1" dirty="0">
              <a:solidFill>
                <a:schemeClr val="accent6">
                  <a:lumMod val="50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2DAA7C-85AF-80AD-66AC-C94BF3595959}"/>
              </a:ext>
            </a:extLst>
          </p:cNvPr>
          <p:cNvSpPr txBox="1"/>
          <p:nvPr/>
        </p:nvSpPr>
        <p:spPr>
          <a:xfrm>
            <a:off x="4620490" y="982176"/>
            <a:ext cx="490537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팀원 구성 및 역할</a:t>
            </a:r>
            <a:endParaRPr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457200" indent="-457200">
              <a:buFontTx/>
              <a:buAutoNum type="arabicPeriod"/>
            </a:pPr>
            <a:endParaRPr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457200" indent="-457200">
              <a:buFontTx/>
              <a:buAutoNum type="arabicPeriod"/>
            </a:pPr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작품 개요 개발 동기</a:t>
            </a:r>
            <a:endParaRPr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457200" indent="-457200">
              <a:buAutoNum type="arabicPeriod"/>
            </a:pPr>
            <a:endParaRPr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457200" indent="-457200">
              <a:buAutoNum type="arabicPeriod"/>
            </a:pPr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유사 작품 비교 분석</a:t>
            </a:r>
            <a:endParaRPr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457200" indent="-457200">
              <a:buAutoNum type="arabicPeriod"/>
            </a:pPr>
            <a:endParaRPr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457200" indent="-457200">
              <a:buAutoNum type="arabicPeriod"/>
            </a:pPr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시스템 구성도 및 사용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API</a:t>
            </a:r>
          </a:p>
          <a:p>
            <a:pPr marL="457200" indent="-457200">
              <a:buAutoNum type="arabicPeriod"/>
            </a:pPr>
            <a:endParaRPr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457200" indent="-457200">
              <a:buAutoNum type="arabicPeriod"/>
            </a:pPr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관리자 페이지 인터페이스</a:t>
            </a:r>
            <a:endParaRPr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457200" indent="-457200">
              <a:buAutoNum type="arabicPeriod"/>
            </a:pPr>
            <a:endParaRPr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457200" indent="-457200">
              <a:buAutoNum type="arabicPeriod"/>
            </a:pPr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데이터베이스 설계</a:t>
            </a:r>
            <a:endParaRPr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457200" indent="-457200">
              <a:buAutoNum type="arabicPeriod"/>
            </a:pPr>
            <a:endParaRPr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457200" indent="-457200">
              <a:buFontTx/>
              <a:buAutoNum type="arabicPeriod"/>
            </a:pP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APP</a:t>
            </a:r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인터페이스</a:t>
            </a:r>
            <a:endParaRPr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457200" indent="-457200">
              <a:buAutoNum type="arabicPeriod"/>
            </a:pPr>
            <a:endParaRPr lang="ko-KR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2522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A7BAA-C6CF-D7CB-6A8F-C15E55D65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DE3720-04B7-C123-9BD2-84172B072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800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팀원 구성 및 역할</a:t>
            </a:r>
            <a:endParaRPr lang="en-US" altLang="ko-KR" sz="4800" b="1" dirty="0">
              <a:solidFill>
                <a:schemeClr val="accent6">
                  <a:lumMod val="50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A9A862F9-633D-E2FB-F4F7-DF5775B396AF}"/>
              </a:ext>
            </a:extLst>
          </p:cNvPr>
          <p:cNvSpPr/>
          <p:nvPr/>
        </p:nvSpPr>
        <p:spPr>
          <a:xfrm>
            <a:off x="1043708" y="1930834"/>
            <a:ext cx="3777674" cy="197614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박상돈</a:t>
            </a:r>
            <a:endParaRPr lang="en-US" altLang="ko-KR" sz="2400" dirty="0">
              <a:solidFill>
                <a:schemeClr val="tx1">
                  <a:lumMod val="75000"/>
                  <a:lumOff val="2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endParaRPr lang="en-US" altLang="ko-KR" sz="2400" dirty="0">
              <a:solidFill>
                <a:schemeClr val="tx1"/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-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관리자 페이지 웹</a:t>
            </a: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-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데이터베이스 설계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26DDFFF-C3C5-BFE2-F359-14FBCA05D5BD}"/>
              </a:ext>
            </a:extLst>
          </p:cNvPr>
          <p:cNvSpPr/>
          <p:nvPr/>
        </p:nvSpPr>
        <p:spPr>
          <a:xfrm>
            <a:off x="6557817" y="1930834"/>
            <a:ext cx="3777674" cy="197614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곽경민</a:t>
            </a:r>
            <a:endParaRPr lang="en-US" altLang="ko-KR" sz="2400" dirty="0">
              <a:solidFill>
                <a:schemeClr val="tx1">
                  <a:lumMod val="75000"/>
                  <a:lumOff val="2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Campmate Android APP</a:t>
            </a:r>
          </a:p>
          <a:p>
            <a:pPr marL="285750" indent="-285750">
              <a:buFontTx/>
              <a:buChar char="-"/>
            </a:pPr>
            <a:r>
              <a:rPr lang="en-US" altLang="ko-KR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FireBase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설계</a:t>
            </a: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UI/UX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디자인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8E9DFF0-99AC-62A8-04D5-C5B27B149C8D}"/>
              </a:ext>
            </a:extLst>
          </p:cNvPr>
          <p:cNvSpPr/>
          <p:nvPr/>
        </p:nvSpPr>
        <p:spPr>
          <a:xfrm>
            <a:off x="6557817" y="4147128"/>
            <a:ext cx="3777674" cy="197614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이채현</a:t>
            </a:r>
            <a:endParaRPr lang="en-US" altLang="ko-KR" sz="2400" dirty="0">
              <a:solidFill>
                <a:schemeClr val="tx1">
                  <a:lumMod val="75000"/>
                  <a:lumOff val="2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endParaRPr lang="en-US" altLang="ko-KR" sz="2400" dirty="0">
              <a:solidFill>
                <a:schemeClr val="tx1"/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Campmate Android APP</a:t>
            </a:r>
          </a:p>
          <a:p>
            <a:pPr marL="285750" indent="-285750">
              <a:buFontTx/>
              <a:buChar char="-"/>
            </a:pPr>
            <a:r>
              <a:rPr lang="en-US" altLang="ko-KR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FireBase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설계</a:t>
            </a: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UI/UX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디자인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FB1844C-AF60-4BDA-B772-46BAA8EFD044}"/>
              </a:ext>
            </a:extLst>
          </p:cNvPr>
          <p:cNvSpPr/>
          <p:nvPr/>
        </p:nvSpPr>
        <p:spPr>
          <a:xfrm>
            <a:off x="1043708" y="4146912"/>
            <a:ext cx="3777674" cy="197614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최대환</a:t>
            </a:r>
            <a:endParaRPr lang="en-US" altLang="ko-KR" sz="2400" dirty="0">
              <a:solidFill>
                <a:schemeClr val="tx1">
                  <a:lumMod val="75000"/>
                  <a:lumOff val="2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날씨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지도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API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연동</a:t>
            </a:r>
            <a:endParaRPr lang="en-US" altLang="ko-KR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Backend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741DFDB4-9191-2624-D12B-43885F7E4E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667" y="704739"/>
            <a:ext cx="646333" cy="646333"/>
          </a:xfrm>
          <a:prstGeom prst="rect">
            <a:avLst/>
          </a:prstGeom>
          <a:effectLst>
            <a:softEdge rad="38100"/>
          </a:effectLst>
        </p:spPr>
      </p:pic>
    </p:spTree>
    <p:extLst>
      <p:ext uri="{BB962C8B-B14F-4D97-AF65-F5344CB8AC3E}">
        <p14:creationId xmlns:p14="http://schemas.microsoft.com/office/powerpoint/2010/main" val="2939046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6C3F83-DBEB-48F9-B2AE-383B4A4B9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작품 개요 및 개발 동기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 [</a:t>
            </a:r>
            <a:r>
              <a:rPr lang="en-US" altLang="ko-KR" b="1" dirty="0" err="1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CampMate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endParaRPr lang="ko-KR" altLang="en-US" b="1" dirty="0">
              <a:solidFill>
                <a:schemeClr val="accent6">
                  <a:lumMod val="50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A0D2EC-ED11-4438-8EF7-2B600287A650}"/>
              </a:ext>
            </a:extLst>
          </p:cNvPr>
          <p:cNvSpPr txBox="1"/>
          <p:nvPr/>
        </p:nvSpPr>
        <p:spPr>
          <a:xfrm>
            <a:off x="838200" y="1872219"/>
            <a:ext cx="9608721" cy="347030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● 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캠핑의 전 과정을 ‘친구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(Mate)’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처럼 도와주는 </a:t>
            </a:r>
            <a:r>
              <a:rPr lang="ko-KR" altLang="en-US" b="1" dirty="0" err="1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올인원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캠핑 어시스턴트 앱</a:t>
            </a:r>
            <a:endParaRPr lang="en-US" altLang="ko-KR" b="1" dirty="0">
              <a:solidFill>
                <a:schemeClr val="accent6">
                  <a:lumMod val="50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예약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외 장비 체크리스트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날씨 정보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커뮤니티 등의 기능을 제공하여 </a:t>
            </a:r>
            <a:r>
              <a:rPr lang="ko-KR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캠핑의 모든 과정을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‘</a:t>
            </a:r>
            <a:r>
              <a:rPr lang="ko-KR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친구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(Mate)’ </a:t>
            </a:r>
            <a:r>
              <a:rPr lang="ko-KR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처럼 도와주는 앱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기본적으로 캠핑 예약 페이지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커뮤니티 기능을 제공하며</a:t>
            </a:r>
            <a:r>
              <a:rPr lang="ko-KR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타 앱과 다르게 </a:t>
            </a:r>
            <a:r>
              <a:rPr lang="ko-KR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장비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ko-KR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체크리스트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날씨 정보 등을 제공하여 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캠핑을 더욱 편리하게 준비하고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ko-KR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관리할 수 있도록 돕는 앱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● 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 진행에 있어 체크리스트 및 날씨 정보의 필요성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: 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 준비의 번거로움 해소</a:t>
            </a:r>
            <a:endParaRPr lang="en-US" altLang="ko-KR" b="1" dirty="0">
              <a:solidFill>
                <a:schemeClr val="accent6">
                  <a:lumMod val="50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기존 방식은 종이 체크리스트나 메모 앱 등을 오가며 준비물을 관리하는 불편함이 존재합니다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날씨 정보는 캠핑 진행에 있어 가장 중요한 부분으로 기상 변화 대처에 있어서 반드시 필요한 정보입니다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시중에는 캠핑장 예약 어플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날씨 어플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메모 어플이 각각 존재하지만 각 서비스 간 이동과 데이터 관리에 불편함이 있어</a:t>
            </a:r>
            <a:endParaRPr lang="en-US" altLang="ko-KR" sz="1400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파편화된 기능들에 대한 통합 필요성을 느껴 </a:t>
            </a:r>
            <a:r>
              <a:rPr lang="en-US" altLang="ko-KR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CampMate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앱 기획을 목표하게 되었습니다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8441982-7B9E-281E-355F-5EC093C2C3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0588" y="704739"/>
            <a:ext cx="646333" cy="646333"/>
          </a:xfrm>
          <a:prstGeom prst="rect">
            <a:avLst/>
          </a:prstGeom>
          <a:effectLst>
            <a:softEdge rad="38100"/>
          </a:effectLst>
        </p:spPr>
      </p:pic>
    </p:spTree>
    <p:extLst>
      <p:ext uri="{BB962C8B-B14F-4D97-AF65-F5344CB8AC3E}">
        <p14:creationId xmlns:p14="http://schemas.microsoft.com/office/powerpoint/2010/main" val="155059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18D0D8-0C77-4E69-A0F5-09B5DCD9A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유사 작품 비교 분석</a:t>
            </a:r>
          </a:p>
        </p:txBody>
      </p:sp>
      <p:pic>
        <p:nvPicPr>
          <p:cNvPr id="10" name="그림 9" descr="텍스트, 스크린샷, 웹 페이지, 웹사이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40C1558-E447-62FA-58C2-8F874C3A2D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376" y="1955802"/>
            <a:ext cx="1749365" cy="40624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 descr="텍스트, 스크린샷, 웹사이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8587321-E553-D620-0BF9-B90709FA91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5228" y="1955804"/>
            <a:ext cx="1749364" cy="40624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C3266D7-5710-7E15-A48D-1C2511D86E8A}"/>
              </a:ext>
            </a:extLst>
          </p:cNvPr>
          <p:cNvSpPr/>
          <p:nvPr/>
        </p:nvSpPr>
        <p:spPr>
          <a:xfrm>
            <a:off x="4611252" y="1910054"/>
            <a:ext cx="6518566" cy="197614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기존 앱 기능 분석 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(CAMFIT, </a:t>
            </a:r>
            <a:r>
              <a:rPr lang="ko-KR" altLang="en-US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캠지기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)</a:t>
            </a:r>
          </a:p>
          <a:p>
            <a:endParaRPr lang="en-US" altLang="ko-KR" sz="2400" dirty="0">
              <a:solidFill>
                <a:schemeClr val="tx1"/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캠핑장 예약 기능 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(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지역별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지도 기반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캠핑장 및 사진 공유 커뮤니티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지도 기반 캠핑장 위치 확인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72AC4C1-986C-8504-519C-4B3540923C1F}"/>
              </a:ext>
            </a:extLst>
          </p:cNvPr>
          <p:cNvSpPr/>
          <p:nvPr/>
        </p:nvSpPr>
        <p:spPr>
          <a:xfrm>
            <a:off x="4611252" y="3987008"/>
            <a:ext cx="6518566" cy="197614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CampMate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만의 차별화 기능</a:t>
            </a:r>
            <a:endParaRPr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endParaRPr lang="en-US" altLang="ko-KR" sz="2000" dirty="0">
              <a:solidFill>
                <a:schemeClr val="tx1"/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회원가입 시 사용자의 선호 캠핑 유형을 조사하여 캠핑장 추천 기능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사용자만의 체크리스트를 생성할 수 있으며 커뮤니티 페이지에서 다른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사용자의 체크리스트를 참고하거나 나의 리스트에 저장 할 수 있도록 제공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예약된 날짜의 캠핑장 날씨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실시간 현재 날씨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위성 지도를 제공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7480DEE-A2C0-3A16-7380-6A5ECAD517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1267" y="704739"/>
            <a:ext cx="646333" cy="646333"/>
          </a:xfrm>
          <a:prstGeom prst="rect">
            <a:avLst/>
          </a:prstGeom>
          <a:effectLst>
            <a:softEdge rad="38100"/>
          </a:effectLst>
        </p:spPr>
      </p:pic>
    </p:spTree>
    <p:extLst>
      <p:ext uri="{BB962C8B-B14F-4D97-AF65-F5344CB8AC3E}">
        <p14:creationId xmlns:p14="http://schemas.microsoft.com/office/powerpoint/2010/main" val="778537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6C8AD-21C2-1EC9-1A70-8AC779F71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FDBE1BFE-46DB-19E8-44B6-591DCBC527C6}"/>
              </a:ext>
            </a:extLst>
          </p:cNvPr>
          <p:cNvSpPr/>
          <p:nvPr/>
        </p:nvSpPr>
        <p:spPr>
          <a:xfrm>
            <a:off x="7191774" y="4056165"/>
            <a:ext cx="2419551" cy="533743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F391038-553D-DDF4-6F9E-2AB30B30E58B}"/>
              </a:ext>
            </a:extLst>
          </p:cNvPr>
          <p:cNvSpPr/>
          <p:nvPr/>
        </p:nvSpPr>
        <p:spPr>
          <a:xfrm>
            <a:off x="3568643" y="4100465"/>
            <a:ext cx="2218107" cy="533743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EBCD655C-9865-F278-5D75-CFDBEDB4F3B7}"/>
              </a:ext>
            </a:extLst>
          </p:cNvPr>
          <p:cNvSpPr/>
          <p:nvPr/>
        </p:nvSpPr>
        <p:spPr>
          <a:xfrm>
            <a:off x="292970" y="4100465"/>
            <a:ext cx="2108485" cy="533743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7B7F6B30-A430-A7CD-7AF1-0A23470DF833}"/>
              </a:ext>
            </a:extLst>
          </p:cNvPr>
          <p:cNvSpPr/>
          <p:nvPr/>
        </p:nvSpPr>
        <p:spPr>
          <a:xfrm>
            <a:off x="3568643" y="1836741"/>
            <a:ext cx="2218107" cy="215870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AC31EDF-EFC2-A8BE-1F57-9BAA1D1F21B3}"/>
              </a:ext>
            </a:extLst>
          </p:cNvPr>
          <p:cNvSpPr/>
          <p:nvPr/>
        </p:nvSpPr>
        <p:spPr>
          <a:xfrm>
            <a:off x="292970" y="1842971"/>
            <a:ext cx="2108485" cy="215870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BA20E2B-AD3B-257D-E2CB-DB8D53F6DD78}"/>
              </a:ext>
            </a:extLst>
          </p:cNvPr>
          <p:cNvSpPr/>
          <p:nvPr/>
        </p:nvSpPr>
        <p:spPr>
          <a:xfrm>
            <a:off x="7141231" y="1842972"/>
            <a:ext cx="2470094" cy="215870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5351489-4F31-0609-67AE-14D7093FB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시스템 구성도 및 사용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API</a:t>
            </a:r>
            <a:endParaRPr lang="ko-KR" altLang="en-US" b="1" dirty="0">
              <a:solidFill>
                <a:schemeClr val="accent6">
                  <a:lumMod val="50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7FCD6E-08A4-BF10-71B3-56EB63EAF922}"/>
              </a:ext>
            </a:extLst>
          </p:cNvPr>
          <p:cNvSpPr txBox="1"/>
          <p:nvPr/>
        </p:nvSpPr>
        <p:spPr>
          <a:xfrm>
            <a:off x="418898" y="1500761"/>
            <a:ext cx="1770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ADLaM Display" panose="020F0502020204030204" pitchFamily="2" charset="0"/>
                <a:cs typeface="ADLaM Display" panose="020F0502020204030204" pitchFamily="2" charset="0"/>
              </a:rPr>
              <a:t>Web</a:t>
            </a:r>
            <a:endParaRPr lang="ko-KR" altLang="en-US" dirty="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A9D1C72-FD3F-404B-FA23-FD11A8BA5A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976" y="704739"/>
            <a:ext cx="646333" cy="646333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63812D-84F5-F559-7BD8-90A849A18DB9}"/>
              </a:ext>
            </a:extLst>
          </p:cNvPr>
          <p:cNvSpPr txBox="1"/>
          <p:nvPr/>
        </p:nvSpPr>
        <p:spPr>
          <a:xfrm>
            <a:off x="418898" y="3290038"/>
            <a:ext cx="17705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관리자 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Web</a:t>
            </a:r>
          </a:p>
        </p:txBody>
      </p:sp>
      <p:pic>
        <p:nvPicPr>
          <p:cNvPr id="11" name="그래픽 10" descr="데이터베이스 단색으로 채워진">
            <a:extLst>
              <a:ext uri="{FF2B5EF4-FFF2-40B4-BE49-F238E27FC236}">
                <a16:creationId xmlns:a16="http://schemas.microsoft.com/office/drawing/2014/main" id="{FD35A124-0928-73B9-B8C9-7C6A24D1A3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02347" y="2274453"/>
            <a:ext cx="914400" cy="914400"/>
          </a:xfrm>
          <a:prstGeom prst="rect">
            <a:avLst/>
          </a:prstGeom>
        </p:spPr>
      </p:pic>
      <p:pic>
        <p:nvPicPr>
          <p:cNvPr id="13" name="그래픽 12" descr="톱니바퀴 단색으로 채워진">
            <a:extLst>
              <a:ext uri="{FF2B5EF4-FFF2-40B4-BE49-F238E27FC236}">
                <a16:creationId xmlns:a16="http://schemas.microsoft.com/office/drawing/2014/main" id="{42CCE43F-2381-573D-28FC-7F7C9CC17B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44349" y="2238618"/>
            <a:ext cx="914400" cy="914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00676DB-994B-2332-FD69-C55B404B5B10}"/>
              </a:ext>
            </a:extLst>
          </p:cNvPr>
          <p:cNvSpPr txBox="1"/>
          <p:nvPr/>
        </p:nvSpPr>
        <p:spPr>
          <a:xfrm>
            <a:off x="3982307" y="3327729"/>
            <a:ext cx="13544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데이터베이스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8FBF25-28E5-77E4-557E-1E4C77F6F361}"/>
              </a:ext>
            </a:extLst>
          </p:cNvPr>
          <p:cNvSpPr txBox="1"/>
          <p:nvPr/>
        </p:nvSpPr>
        <p:spPr>
          <a:xfrm>
            <a:off x="7699038" y="3327729"/>
            <a:ext cx="13544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백엔드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pic>
        <p:nvPicPr>
          <p:cNvPr id="25" name="그래픽 24" descr="전송 단색으로 채워진">
            <a:extLst>
              <a:ext uri="{FF2B5EF4-FFF2-40B4-BE49-F238E27FC236}">
                <a16:creationId xmlns:a16="http://schemas.microsoft.com/office/drawing/2014/main" id="{B35DF975-4A08-3C62-D874-977FA7DA5C1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63254" y="2544915"/>
            <a:ext cx="914400" cy="914400"/>
          </a:xfrm>
          <a:prstGeom prst="rect">
            <a:avLst/>
          </a:prstGeom>
        </p:spPr>
      </p:pic>
      <p:pic>
        <p:nvPicPr>
          <p:cNvPr id="26" name="그래픽 25" descr="전송 단색으로 채워진">
            <a:extLst>
              <a:ext uri="{FF2B5EF4-FFF2-40B4-BE49-F238E27FC236}">
                <a16:creationId xmlns:a16="http://schemas.microsoft.com/office/drawing/2014/main" id="{43D259FD-5693-7FCE-B1E5-8DC1AB09CD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80676" y="2544915"/>
            <a:ext cx="914400" cy="9144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C7196BA-863A-2309-47C6-7D1907E18062}"/>
              </a:ext>
            </a:extLst>
          </p:cNvPr>
          <p:cNvSpPr txBox="1"/>
          <p:nvPr/>
        </p:nvSpPr>
        <p:spPr>
          <a:xfrm>
            <a:off x="244807" y="4198059"/>
            <a:ext cx="21187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React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765ED7-E010-9E81-89FC-33ACA330A830}"/>
              </a:ext>
            </a:extLst>
          </p:cNvPr>
          <p:cNvSpPr txBox="1"/>
          <p:nvPr/>
        </p:nvSpPr>
        <p:spPr>
          <a:xfrm>
            <a:off x="3000097" y="4198059"/>
            <a:ext cx="33090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Maria DB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216358-48A8-30D4-4273-78000E29EBBB}"/>
              </a:ext>
            </a:extLst>
          </p:cNvPr>
          <p:cNvSpPr txBox="1"/>
          <p:nvPr/>
        </p:nvSpPr>
        <p:spPr>
          <a:xfrm>
            <a:off x="7491733" y="4153759"/>
            <a:ext cx="17690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Spring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pic>
        <p:nvPicPr>
          <p:cNvPr id="8" name="그래픽 7" descr="컴퓨터 단색으로 채워진">
            <a:extLst>
              <a:ext uri="{FF2B5EF4-FFF2-40B4-BE49-F238E27FC236}">
                <a16:creationId xmlns:a16="http://schemas.microsoft.com/office/drawing/2014/main" id="{6999D2B9-B985-6B8C-1379-1FCBEF0F2DD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2224" y="2239135"/>
            <a:ext cx="914400" cy="914400"/>
          </a:xfrm>
          <a:prstGeom prst="rect">
            <a:avLst/>
          </a:prstGeom>
        </p:spPr>
      </p:pic>
      <p:pic>
        <p:nvPicPr>
          <p:cNvPr id="10" name="그림 9" descr="텍스트, 스크린샷, 폰트, 직사각형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13F679D-DB41-5250-1762-D41D7185F0E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6" b="4638"/>
          <a:stretch/>
        </p:blipFill>
        <p:spPr>
          <a:xfrm>
            <a:off x="963128" y="2466518"/>
            <a:ext cx="466908" cy="3306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53822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3C87777-30F0-1349-D14C-CE112336CB00}"/>
              </a:ext>
            </a:extLst>
          </p:cNvPr>
          <p:cNvSpPr/>
          <p:nvPr/>
        </p:nvSpPr>
        <p:spPr>
          <a:xfrm>
            <a:off x="8858251" y="4065076"/>
            <a:ext cx="2495549" cy="922918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D263FA7F-6797-FFC3-FA35-67C567ABA3CD}"/>
              </a:ext>
            </a:extLst>
          </p:cNvPr>
          <p:cNvSpPr/>
          <p:nvPr/>
        </p:nvSpPr>
        <p:spPr>
          <a:xfrm>
            <a:off x="7191774" y="4056165"/>
            <a:ext cx="1556943" cy="533743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FF2880DE-3605-9918-1E32-F33138D8CFBC}"/>
              </a:ext>
            </a:extLst>
          </p:cNvPr>
          <p:cNvSpPr/>
          <p:nvPr/>
        </p:nvSpPr>
        <p:spPr>
          <a:xfrm>
            <a:off x="3078838" y="4100465"/>
            <a:ext cx="3309011" cy="533743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7FE86EFA-1990-A0C5-10E6-209E59CC5B4E}"/>
              </a:ext>
            </a:extLst>
          </p:cNvPr>
          <p:cNvSpPr/>
          <p:nvPr/>
        </p:nvSpPr>
        <p:spPr>
          <a:xfrm>
            <a:off x="292970" y="4100465"/>
            <a:ext cx="2108485" cy="533743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6156970-4C5E-02A0-14FD-093E2F1E7EDE}"/>
              </a:ext>
            </a:extLst>
          </p:cNvPr>
          <p:cNvSpPr/>
          <p:nvPr/>
        </p:nvSpPr>
        <p:spPr>
          <a:xfrm>
            <a:off x="3568643" y="1836741"/>
            <a:ext cx="2218107" cy="215870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2507CD3B-4133-43BE-2699-77E7D664F3C3}"/>
              </a:ext>
            </a:extLst>
          </p:cNvPr>
          <p:cNvSpPr/>
          <p:nvPr/>
        </p:nvSpPr>
        <p:spPr>
          <a:xfrm>
            <a:off x="292970" y="1842971"/>
            <a:ext cx="2108485" cy="215870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B7374B0D-BB3C-36FD-BD7F-6316F38D3BBF}"/>
              </a:ext>
            </a:extLst>
          </p:cNvPr>
          <p:cNvSpPr/>
          <p:nvPr/>
        </p:nvSpPr>
        <p:spPr>
          <a:xfrm>
            <a:off x="7141230" y="1842972"/>
            <a:ext cx="4200970" cy="215870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B08DFAC-8A3C-4BAE-B024-FD9F9A34F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시스템 구성도 및 사용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API</a:t>
            </a:r>
            <a:endParaRPr lang="ko-KR" altLang="en-US" b="1" dirty="0">
              <a:solidFill>
                <a:schemeClr val="accent6">
                  <a:lumMod val="50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0595DD-7541-AAC6-E657-09403453A9B6}"/>
              </a:ext>
            </a:extLst>
          </p:cNvPr>
          <p:cNvSpPr txBox="1"/>
          <p:nvPr/>
        </p:nvSpPr>
        <p:spPr>
          <a:xfrm>
            <a:off x="418898" y="1500761"/>
            <a:ext cx="1770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ADLaM Display" panose="020F0502020204030204" pitchFamily="2" charset="0"/>
                <a:cs typeface="ADLaM Display" panose="020F0502020204030204" pitchFamily="2" charset="0"/>
              </a:rPr>
              <a:t>APP</a:t>
            </a:r>
            <a:endParaRPr lang="ko-KR" altLang="en-US" dirty="0">
              <a:latin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C7F7802-1FBE-1E9D-323B-54D1066C20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976" y="704739"/>
            <a:ext cx="646333" cy="646333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5" name="그래픽 4" descr="스마트폰 단색으로 채워진">
            <a:extLst>
              <a:ext uri="{FF2B5EF4-FFF2-40B4-BE49-F238E27FC236}">
                <a16:creationId xmlns:a16="http://schemas.microsoft.com/office/drawing/2014/main" id="{01098074-D7E7-6297-01D0-DF6AA73602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9800" y="2274453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8106CA-86EA-73E4-A8BD-8F48DD6A98A7}"/>
              </a:ext>
            </a:extLst>
          </p:cNvPr>
          <p:cNvSpPr txBox="1"/>
          <p:nvPr/>
        </p:nvSpPr>
        <p:spPr>
          <a:xfrm>
            <a:off x="418898" y="3290038"/>
            <a:ext cx="17705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사용자 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APP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E1F60B1-B3A4-93D8-740D-F9E11C39E7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411" y="2415872"/>
            <a:ext cx="357038" cy="629615"/>
          </a:xfrm>
          <a:prstGeom prst="rect">
            <a:avLst/>
          </a:prstGeom>
        </p:spPr>
      </p:pic>
      <p:pic>
        <p:nvPicPr>
          <p:cNvPr id="9" name="그래픽 8" descr="폴더 검색 단색으로 채워진">
            <a:extLst>
              <a:ext uri="{FF2B5EF4-FFF2-40B4-BE49-F238E27FC236}">
                <a16:creationId xmlns:a16="http://schemas.microsoft.com/office/drawing/2014/main" id="{CFEB3190-3664-D1AB-A606-511591BC8C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31364" y="2220669"/>
            <a:ext cx="914400" cy="914400"/>
          </a:xfrm>
          <a:prstGeom prst="rect">
            <a:avLst/>
          </a:prstGeom>
        </p:spPr>
      </p:pic>
      <p:pic>
        <p:nvPicPr>
          <p:cNvPr id="11" name="그래픽 10" descr="데이터베이스 단색으로 채워진">
            <a:extLst>
              <a:ext uri="{FF2B5EF4-FFF2-40B4-BE49-F238E27FC236}">
                <a16:creationId xmlns:a16="http://schemas.microsoft.com/office/drawing/2014/main" id="{BB00B82F-F729-1D97-CCEB-21B55887962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02347" y="2274453"/>
            <a:ext cx="914400" cy="914400"/>
          </a:xfrm>
          <a:prstGeom prst="rect">
            <a:avLst/>
          </a:prstGeom>
        </p:spPr>
      </p:pic>
      <p:pic>
        <p:nvPicPr>
          <p:cNvPr id="13" name="그래픽 12" descr="톱니바퀴 단색으로 채워진">
            <a:extLst>
              <a:ext uri="{FF2B5EF4-FFF2-40B4-BE49-F238E27FC236}">
                <a16:creationId xmlns:a16="http://schemas.microsoft.com/office/drawing/2014/main" id="{EA7D1D05-CA38-AFF4-150F-AFB06E31E7D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42235" y="2230496"/>
            <a:ext cx="914400" cy="914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EDB013D-8888-92A0-AA82-62272D7C18E7}"/>
              </a:ext>
            </a:extLst>
          </p:cNvPr>
          <p:cNvSpPr txBox="1"/>
          <p:nvPr/>
        </p:nvSpPr>
        <p:spPr>
          <a:xfrm>
            <a:off x="9611324" y="3327729"/>
            <a:ext cx="13544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외부 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API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8E0484-1361-A4E9-221C-72586846DE83}"/>
              </a:ext>
            </a:extLst>
          </p:cNvPr>
          <p:cNvSpPr txBox="1"/>
          <p:nvPr/>
        </p:nvSpPr>
        <p:spPr>
          <a:xfrm>
            <a:off x="3982307" y="3327729"/>
            <a:ext cx="13544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데이터베이스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3FAE33-B38D-9501-43F6-210DB69D9743}"/>
              </a:ext>
            </a:extLst>
          </p:cNvPr>
          <p:cNvSpPr txBox="1"/>
          <p:nvPr/>
        </p:nvSpPr>
        <p:spPr>
          <a:xfrm>
            <a:off x="7622195" y="3314173"/>
            <a:ext cx="13544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백엔드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pic>
        <p:nvPicPr>
          <p:cNvPr id="25" name="그래픽 24" descr="전송 단색으로 채워진">
            <a:extLst>
              <a:ext uri="{FF2B5EF4-FFF2-40B4-BE49-F238E27FC236}">
                <a16:creationId xmlns:a16="http://schemas.microsoft.com/office/drawing/2014/main" id="{88270F7D-A8B6-494D-95BB-07D2040F044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963254" y="2544915"/>
            <a:ext cx="914400" cy="914400"/>
          </a:xfrm>
          <a:prstGeom prst="rect">
            <a:avLst/>
          </a:prstGeom>
        </p:spPr>
      </p:pic>
      <p:pic>
        <p:nvPicPr>
          <p:cNvPr id="26" name="그래픽 25" descr="전송 단색으로 채워진">
            <a:extLst>
              <a:ext uri="{FF2B5EF4-FFF2-40B4-BE49-F238E27FC236}">
                <a16:creationId xmlns:a16="http://schemas.microsoft.com/office/drawing/2014/main" id="{B35C003C-515E-CD52-024D-D79946AE894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580676" y="2544915"/>
            <a:ext cx="914400" cy="9144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6580DB7-4C88-C1D5-7EEA-F3E4755E7977}"/>
              </a:ext>
            </a:extLst>
          </p:cNvPr>
          <p:cNvSpPr txBox="1"/>
          <p:nvPr/>
        </p:nvSpPr>
        <p:spPr>
          <a:xfrm>
            <a:off x="244807" y="4198059"/>
            <a:ext cx="21187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Kotlin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CF5B32-90B8-1362-C7BE-9F61A6CCD751}"/>
              </a:ext>
            </a:extLst>
          </p:cNvPr>
          <p:cNvSpPr txBox="1"/>
          <p:nvPr/>
        </p:nvSpPr>
        <p:spPr>
          <a:xfrm>
            <a:off x="3129381" y="4198059"/>
            <a:ext cx="33090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FireBase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(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구글 로그인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체크리스트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)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A04B4F-DF65-1CDA-37CB-942251C10CD8}"/>
              </a:ext>
            </a:extLst>
          </p:cNvPr>
          <p:cNvSpPr txBox="1"/>
          <p:nvPr/>
        </p:nvSpPr>
        <p:spPr>
          <a:xfrm>
            <a:off x="7049762" y="4149283"/>
            <a:ext cx="1698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Spring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BB20830-2391-E598-4376-6780FDF95978}"/>
              </a:ext>
            </a:extLst>
          </p:cNvPr>
          <p:cNvSpPr txBox="1"/>
          <p:nvPr/>
        </p:nvSpPr>
        <p:spPr>
          <a:xfrm>
            <a:off x="8712463" y="4104804"/>
            <a:ext cx="26931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OpenWeather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API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F6B80D-5C75-91FC-54A4-850876AA4C36}"/>
              </a:ext>
            </a:extLst>
          </p:cNvPr>
          <p:cNvSpPr txBox="1"/>
          <p:nvPr/>
        </p:nvSpPr>
        <p:spPr>
          <a:xfrm>
            <a:off x="8970777" y="4404832"/>
            <a:ext cx="21187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구글맵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API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D7BD007-F1E4-04A6-327C-8D4DEA2C3A95}"/>
              </a:ext>
            </a:extLst>
          </p:cNvPr>
          <p:cNvSpPr txBox="1"/>
          <p:nvPr/>
        </p:nvSpPr>
        <p:spPr>
          <a:xfrm>
            <a:off x="8597645" y="4637506"/>
            <a:ext cx="30296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로그인 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API(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카카오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네이버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)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49771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0DD08-ADB0-0254-805F-57ED57AF4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72BE7B-51EB-18F4-8C69-02869F358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관리자 페이지</a:t>
            </a:r>
            <a:r>
              <a:rPr lang="en-US" altLang="ko-KR" dirty="0"/>
              <a:t> 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인터페이스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EDDDA70-26FF-03E3-CB93-A667351755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72" y="704739"/>
            <a:ext cx="646333" cy="646333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ADAEF0D3-9B58-C6AE-F26C-AC0835DDDDCA}"/>
              </a:ext>
            </a:extLst>
          </p:cNvPr>
          <p:cNvSpPr/>
          <p:nvPr/>
        </p:nvSpPr>
        <p:spPr>
          <a:xfrm>
            <a:off x="1018572" y="1506022"/>
            <a:ext cx="34451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1. 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로그인 페이지 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미 로그인 상태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)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4484C36-342E-001D-9B96-92F96F88C298}"/>
              </a:ext>
            </a:extLst>
          </p:cNvPr>
          <p:cNvSpPr/>
          <p:nvPr/>
        </p:nvSpPr>
        <p:spPr>
          <a:xfrm>
            <a:off x="7177044" y="1875354"/>
            <a:ext cx="4958409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캠핑장 관리자는 가입된 계정으로 로그인하여</a:t>
            </a: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캠핑장 예약 상태 확인 및 보유한 </a:t>
            </a:r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캠핑존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관리가</a:t>
            </a: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가능하며 보유한 계정이 없을 시에는 관리자 가입 버튼을 </a:t>
            </a: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클릭하여 관리자 가입 페이지로 이동해 계정을 생성 할 </a:t>
            </a: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수 있습니다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 </a:t>
            </a:r>
          </a:p>
        </p:txBody>
      </p:sp>
      <p:pic>
        <p:nvPicPr>
          <p:cNvPr id="13" name="그림 12" descr="텍스트, 스크린샷, 폰트, 직사각형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61A0010-69CB-EE3C-40EB-6583F1B0B4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6" b="4638"/>
          <a:stretch/>
        </p:blipFill>
        <p:spPr>
          <a:xfrm>
            <a:off x="1018572" y="2030302"/>
            <a:ext cx="6068027" cy="383964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91752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19FC1-9B6E-EE8F-75B9-AEFED0B65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472C24-4E0B-6E6E-2AAA-09CA862B5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관리자 페이지</a:t>
            </a:r>
            <a:r>
              <a:rPr lang="en-US" altLang="ko-KR" dirty="0"/>
              <a:t> 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인터페이스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E79A39A-BD58-CBEB-A317-6598E01B0F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72" y="704739"/>
            <a:ext cx="646333" cy="646333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99777F9F-B52D-86A0-6615-57EC7965D737}"/>
              </a:ext>
            </a:extLst>
          </p:cNvPr>
          <p:cNvSpPr/>
          <p:nvPr/>
        </p:nvSpPr>
        <p:spPr>
          <a:xfrm>
            <a:off x="1018572" y="1506022"/>
            <a:ext cx="39405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2. 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관리자 가입 페이지 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미 로그인 상태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)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B671D1F-B10A-D160-EB42-C3FB7F9AE911}"/>
              </a:ext>
            </a:extLst>
          </p:cNvPr>
          <p:cNvSpPr/>
          <p:nvPr/>
        </p:nvSpPr>
        <p:spPr>
          <a:xfrm>
            <a:off x="6641335" y="2438772"/>
            <a:ext cx="5572359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관리자 가입 페이지에서는 사용자에게 표시될 사진 및 </a:t>
            </a:r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정보과</a:t>
            </a: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추천에 사용될 정보를  입력합니다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</a:p>
          <a:p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(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캠핑장 이름</a:t>
            </a: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캠핑장 정보</a:t>
            </a: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캠핑장 대표 사진</a:t>
            </a: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주차 가능 여부</a:t>
            </a: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 스타일</a:t>
            </a:r>
            <a:endParaRPr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캠핑장 배경 및 환경</a:t>
            </a: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추천 동행자</a:t>
            </a:r>
            <a:r>
              <a:rPr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)</a:t>
            </a:r>
          </a:p>
        </p:txBody>
      </p:sp>
      <p:pic>
        <p:nvPicPr>
          <p:cNvPr id="6" name="그림 5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DAD952B-535F-ADCC-89B3-F20E917905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2" b="3763"/>
          <a:stretch/>
        </p:blipFill>
        <p:spPr>
          <a:xfrm>
            <a:off x="1018572" y="1944741"/>
            <a:ext cx="5420328" cy="46275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C6CEAA7-A116-73E4-DEE4-BCCCFA839311}"/>
              </a:ext>
            </a:extLst>
          </p:cNvPr>
          <p:cNvSpPr/>
          <p:nvPr/>
        </p:nvSpPr>
        <p:spPr>
          <a:xfrm>
            <a:off x="6619641" y="4258495"/>
            <a:ext cx="5572359" cy="20621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관리자의 캠핑장에 운영중인 캠핑 존을 등록하여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사용자에게 </a:t>
            </a: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제공 할 수 있습니다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캠핑존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추가 등록이 필요할 시 버튼을 클릭하여 </a:t>
            </a:r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캠핑존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등록란을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추가할 수 있습니다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</a:p>
          <a:p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9384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D6DA8-A709-AACF-9556-A552C0E46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DDA55D-3B86-8F39-88CB-B635F8494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관리자 페이지</a:t>
            </a:r>
            <a:r>
              <a:rPr lang="en-US" altLang="ko-KR" dirty="0"/>
              <a:t> 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인터페이스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A544B2F-E24D-27C3-5694-C16FA29AE2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72" y="704739"/>
            <a:ext cx="646333" cy="646333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014FFC4-AB8F-3F62-E9FA-E09E60AD1281}"/>
              </a:ext>
            </a:extLst>
          </p:cNvPr>
          <p:cNvSpPr/>
          <p:nvPr/>
        </p:nvSpPr>
        <p:spPr>
          <a:xfrm>
            <a:off x="1018572" y="1506022"/>
            <a:ext cx="36792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3-1. 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예약 관리 페이지 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로그인 상태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)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55587A-BDF2-E819-9C2D-FDD69A636E99}"/>
              </a:ext>
            </a:extLst>
          </p:cNvPr>
          <p:cNvSpPr/>
          <p:nvPr/>
        </p:nvSpPr>
        <p:spPr>
          <a:xfrm>
            <a:off x="6574740" y="1938860"/>
            <a:ext cx="5819222" cy="20621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관리자의 캠핑장에 예약된 모든 정보를 최신순으로 표시합니다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예약 상태에 따라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[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예약됨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취소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완료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]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로 표시되며 상세 정보</a:t>
            </a: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버튼을 클릭 시 예약한 사용자 이름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연락처 등 상세 정보가 표시</a:t>
            </a: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됩니다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</a:p>
          <a:p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pic>
        <p:nvPicPr>
          <p:cNvPr id="10" name="그림 9" descr="텍스트, 스크린샷, 소프트웨어, 컴퓨터 아이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40265B3-0174-6976-C012-8AC17E8417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553" b="5700"/>
          <a:stretch/>
        </p:blipFill>
        <p:spPr>
          <a:xfrm>
            <a:off x="387602" y="1938861"/>
            <a:ext cx="6097606" cy="379692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53160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52499-F198-9DA0-304D-670FEF2D6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소프트웨어, 컴퓨터 아이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463149D-D990-17E1-438E-DE553D1207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70"/>
          <a:stretch/>
        </p:blipFill>
        <p:spPr>
          <a:xfrm>
            <a:off x="426257" y="1938859"/>
            <a:ext cx="6064075" cy="380615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5763908-B81E-543B-3D9A-3B17061DF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관리자 페이지</a:t>
            </a:r>
            <a:r>
              <a:rPr lang="en-US" altLang="ko-KR" dirty="0"/>
              <a:t> 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인터페이스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F58E211-0692-EA90-21D2-189519C612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72" y="704739"/>
            <a:ext cx="646333" cy="646333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0EB8DB8B-857B-19A9-1FAC-36B6351CE729}"/>
              </a:ext>
            </a:extLst>
          </p:cNvPr>
          <p:cNvSpPr/>
          <p:nvPr/>
        </p:nvSpPr>
        <p:spPr>
          <a:xfrm>
            <a:off x="1018572" y="1506022"/>
            <a:ext cx="38443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3-2. </a:t>
            </a:r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캠핑존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관리 페이지 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로그인 상태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)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AE062B5-5CFE-715C-38DB-0FDE5EEE13CC}"/>
              </a:ext>
            </a:extLst>
          </p:cNvPr>
          <p:cNvSpPr/>
          <p:nvPr/>
        </p:nvSpPr>
        <p:spPr>
          <a:xfrm>
            <a:off x="6532536" y="2723951"/>
            <a:ext cx="5625258" cy="20621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캠핑존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관리 페이지에서는 관리자 가입 시 등록했던 </a:t>
            </a:r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캠핑존이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표시되며 등록된 </a:t>
            </a:r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캠핑존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정보를 수정 및 삭제할 수 있습니다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캠핑존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추가 등록이 필요할 시에는 </a:t>
            </a:r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캠핑존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추가등록 버튼을</a:t>
            </a: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클릭하여 추가 등록 란을 생성할 수 있습니다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62432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4C8F3-204B-863B-D19A-D0B96A9AF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040F37-241B-B0F1-10DE-BDAB455D6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데이터베이스 설계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E93435F-57D3-423D-4C16-2BF0370183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386174"/>
              </p:ext>
            </p:extLst>
          </p:nvPr>
        </p:nvGraphicFramePr>
        <p:xfrm>
          <a:off x="838200" y="1377211"/>
          <a:ext cx="4863101" cy="2821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491">
                  <a:extLst>
                    <a:ext uri="{9D8B030D-6E8A-4147-A177-3AD203B41FA5}">
                      <a16:colId xmlns:a16="http://schemas.microsoft.com/office/drawing/2014/main" val="1090290785"/>
                    </a:ext>
                  </a:extLst>
                </a:gridCol>
                <a:gridCol w="1388750">
                  <a:extLst>
                    <a:ext uri="{9D8B030D-6E8A-4147-A177-3AD203B41FA5}">
                      <a16:colId xmlns:a16="http://schemas.microsoft.com/office/drawing/2014/main" val="1828314603"/>
                    </a:ext>
                  </a:extLst>
                </a:gridCol>
                <a:gridCol w="1901860">
                  <a:extLst>
                    <a:ext uri="{9D8B030D-6E8A-4147-A177-3AD203B41FA5}">
                      <a16:colId xmlns:a16="http://schemas.microsoft.com/office/drawing/2014/main" val="604839960"/>
                    </a:ext>
                  </a:extLst>
                </a:gridCol>
              </a:tblGrid>
              <a:tr h="323426"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관리자</a:t>
                      </a:r>
                      <a:r>
                        <a:rPr lang="en-US" altLang="ko-KR" sz="1600" dirty="0"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</a:t>
                      </a:r>
                      <a:r>
                        <a:rPr lang="ko-KR" altLang="en-US" sz="1600" dirty="0"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캠핑장</a:t>
                      </a:r>
                      <a:r>
                        <a:rPr lang="en-US" altLang="ko-KR" sz="1600" dirty="0"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)</a:t>
                      </a:r>
                      <a:r>
                        <a:rPr lang="ko-KR" altLang="en-US" sz="1600" dirty="0"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계정 테이블 </a:t>
                      </a:r>
                      <a:r>
                        <a:rPr lang="en-US" altLang="ko-KR" sz="1600" dirty="0"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– admins</a:t>
                      </a:r>
                      <a:endParaRPr lang="ko-KR" altLang="en-US" sz="1600" dirty="0"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3879524"/>
                  </a:ext>
                </a:extLst>
              </a:tr>
              <a:tr h="28931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id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INT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PK, AUTO_INCREMENT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78275434"/>
                  </a:ext>
                </a:extLst>
              </a:tr>
              <a:tr h="28931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email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VARCHAR(255)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사용자 이메일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, UNIQUE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0304831"/>
                  </a:ext>
                </a:extLst>
              </a:tr>
              <a:tr h="28931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password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VARCHAR(255)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비밀번호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95586767"/>
                  </a:ext>
                </a:extLst>
              </a:tr>
              <a:tr h="28931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name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VARCHAR(255)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관리자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캠핑장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)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이름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56373907"/>
                  </a:ext>
                </a:extLst>
              </a:tr>
              <a:tr h="28931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dirty="0" err="1">
                          <a:solidFill>
                            <a:schemeClr val="dk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camping_style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VARCHAR(255)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1200"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선호 캠핑 스타일</a:t>
                      </a:r>
                      <a:endParaRPr lang="en-US" altLang="ko-KR" sz="1200"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  <a:p>
                      <a:pPr marL="0" algn="l" defTabSz="914400" rtl="0" eaLnBrk="1" fontAlgn="ctr" latinLnBrk="1" hangingPunct="1"/>
                      <a:r>
                        <a:rPr lang="en-US" altLang="ko-KR" sz="1200"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</a:t>
                      </a:r>
                      <a:r>
                        <a:rPr lang="ko-KR" altLang="en-US" sz="1200"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오토캠핑</a:t>
                      </a:r>
                      <a:r>
                        <a:rPr lang="en-US" altLang="ko-KR" sz="1200"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, </a:t>
                      </a:r>
                      <a:r>
                        <a:rPr lang="ko-KR" altLang="en-US" sz="1200"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백패킹 </a:t>
                      </a:r>
                      <a:r>
                        <a:rPr lang="en-US" altLang="ko-KR" sz="1200"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, </a:t>
                      </a:r>
                      <a:r>
                        <a:rPr lang="ko-KR" altLang="en-US" sz="1200"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글램핑</a:t>
                      </a:r>
                      <a:r>
                        <a:rPr lang="en-US" altLang="ko-KR" sz="1200"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)</a:t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80717341"/>
                  </a:ext>
                </a:extLst>
              </a:tr>
              <a:tr h="28931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1" kern="1200" dirty="0" err="1">
                          <a:solidFill>
                            <a:schemeClr val="dk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camping_background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VARCHAR(255)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1200" dirty="0"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선호 캠핑 배경</a:t>
                      </a:r>
                      <a:r>
                        <a:rPr lang="en-US" altLang="ko-KR" sz="1200" dirty="0"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</a:t>
                      </a:r>
                      <a:r>
                        <a:rPr lang="ko-KR" altLang="en-US" sz="1200" dirty="0"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산속</a:t>
                      </a:r>
                      <a:r>
                        <a:rPr lang="en-US" altLang="ko-KR" sz="1200" dirty="0"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바다</a:t>
                      </a:r>
                      <a:r>
                        <a:rPr lang="en-US" altLang="ko-KR" sz="1200" dirty="0"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39581025"/>
                  </a:ext>
                </a:extLst>
              </a:tr>
              <a:tr h="28931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companion_type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VARCHAR(255)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1200" dirty="0"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주로 동행하는 대상</a:t>
                      </a:r>
                      <a:endParaRPr lang="en-US" altLang="ko-KR" sz="1200" dirty="0"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  <a:p>
                      <a:pPr marL="0" algn="l" defTabSz="914400" rtl="0" eaLnBrk="1" fontAlgn="ctr" latinLnBrk="1" hangingPunct="1"/>
                      <a:r>
                        <a:rPr lang="en-US" altLang="ko-KR" sz="1200" dirty="0"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</a:t>
                      </a:r>
                      <a:r>
                        <a:rPr lang="ko-KR" altLang="en-US" sz="1200" dirty="0"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가족</a:t>
                      </a:r>
                      <a:r>
                        <a:rPr lang="en-US" altLang="ko-KR" sz="1200" dirty="0"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연인</a:t>
                      </a:r>
                      <a:r>
                        <a:rPr lang="en-US" altLang="ko-KR" sz="1200" dirty="0"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반려동물 등</a:t>
                      </a:r>
                      <a:r>
                        <a:rPr lang="en-US" altLang="ko-KR" sz="1200" dirty="0"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81426964"/>
                  </a:ext>
                </a:extLst>
              </a:tr>
              <a:tr h="28931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200" b="1" kern="1200" dirty="0" err="1">
                          <a:solidFill>
                            <a:schemeClr val="dk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created_dt</a:t>
                      </a:r>
                      <a:endParaRPr lang="en-US" sz="1200" b="1" kern="1200" dirty="0">
                        <a:solidFill>
                          <a:schemeClr val="dk1"/>
                        </a:solidFill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DATETIME 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계정 생성일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97865899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AC5909D-6ABF-CF8B-9894-EC231AA9BB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968152"/>
              </p:ext>
            </p:extLst>
          </p:nvPr>
        </p:nvGraphicFramePr>
        <p:xfrm>
          <a:off x="6209301" y="1377211"/>
          <a:ext cx="4863102" cy="34010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034">
                  <a:extLst>
                    <a:ext uri="{9D8B030D-6E8A-4147-A177-3AD203B41FA5}">
                      <a16:colId xmlns:a16="http://schemas.microsoft.com/office/drawing/2014/main" val="3498667533"/>
                    </a:ext>
                  </a:extLst>
                </a:gridCol>
                <a:gridCol w="1621034">
                  <a:extLst>
                    <a:ext uri="{9D8B030D-6E8A-4147-A177-3AD203B41FA5}">
                      <a16:colId xmlns:a16="http://schemas.microsoft.com/office/drawing/2014/main" val="2465664977"/>
                    </a:ext>
                  </a:extLst>
                </a:gridCol>
                <a:gridCol w="1621034">
                  <a:extLst>
                    <a:ext uri="{9D8B030D-6E8A-4147-A177-3AD203B41FA5}">
                      <a16:colId xmlns:a16="http://schemas.microsoft.com/office/drawing/2014/main" val="2731323138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600" b="1" kern="1200" dirty="0">
                          <a:solidFill>
                            <a:schemeClr val="lt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예약 상태 테이블 </a:t>
                      </a:r>
                      <a:r>
                        <a:rPr lang="en-US" altLang="ko-KR" sz="1600" b="1" kern="1200" dirty="0">
                          <a:solidFill>
                            <a:schemeClr val="lt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- reservations</a:t>
                      </a:r>
                      <a:endParaRPr lang="ko-KR" altLang="en-US" sz="1600" b="1" kern="1200" dirty="0">
                        <a:solidFill>
                          <a:schemeClr val="lt1"/>
                        </a:solidFill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4006292"/>
                  </a:ext>
                </a:extLst>
              </a:tr>
              <a:tr h="24700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INT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PK, AUTO_INCREMENT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95299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camping_zone_id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INT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FK → camping_zones.id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64538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customer_name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VARCHAR(100)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예약자 이름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97238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customer_phone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VARCHAR(20)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예약자 연락처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45567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check_in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DATE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체크인 날짜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45286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check_out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DATE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체크아웃 날짜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53817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status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ENUM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예약 상태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ENUM('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예약됨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', '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취소됨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', '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완료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') DEFAULT '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예약됨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'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41093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created_dt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DATETIME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예약 생성일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08425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6950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D0BB7-AF99-462F-AE3D-6429FEF89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1E3361-2ED2-E394-8088-4146FDE7B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데이터베이스 설계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D95DAE66-326A-CFDA-9A45-1628919569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980442"/>
              </p:ext>
            </p:extLst>
          </p:nvPr>
        </p:nvGraphicFramePr>
        <p:xfrm>
          <a:off x="838200" y="1400238"/>
          <a:ext cx="6541655" cy="43452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1728">
                  <a:extLst>
                    <a:ext uri="{9D8B030D-6E8A-4147-A177-3AD203B41FA5}">
                      <a16:colId xmlns:a16="http://schemas.microsoft.com/office/drawing/2014/main" val="3322454992"/>
                    </a:ext>
                  </a:extLst>
                </a:gridCol>
                <a:gridCol w="1808878">
                  <a:extLst>
                    <a:ext uri="{9D8B030D-6E8A-4147-A177-3AD203B41FA5}">
                      <a16:colId xmlns:a16="http://schemas.microsoft.com/office/drawing/2014/main" val="1745559720"/>
                    </a:ext>
                  </a:extLst>
                </a:gridCol>
                <a:gridCol w="3151049">
                  <a:extLst>
                    <a:ext uri="{9D8B030D-6E8A-4147-A177-3AD203B41FA5}">
                      <a16:colId xmlns:a16="http://schemas.microsoft.com/office/drawing/2014/main" val="2349419958"/>
                    </a:ext>
                  </a:extLst>
                </a:gridCol>
              </a:tblGrid>
              <a:tr h="308461">
                <a:tc gridSpan="3"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600" b="1" kern="1200" dirty="0" err="1">
                          <a:solidFill>
                            <a:schemeClr val="lt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캠핑존</a:t>
                      </a:r>
                      <a:r>
                        <a:rPr lang="ko-KR" altLang="en-US" sz="1600" b="1" kern="1200" dirty="0">
                          <a:solidFill>
                            <a:schemeClr val="lt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정보 테이블 </a:t>
                      </a:r>
                      <a:r>
                        <a:rPr lang="en-US" altLang="ko-KR" sz="1600" b="1" kern="1200" dirty="0">
                          <a:solidFill>
                            <a:schemeClr val="lt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– </a:t>
                      </a:r>
                      <a:r>
                        <a:rPr lang="en-US" altLang="ko-KR" sz="1600" b="1" kern="1200" dirty="0" err="1">
                          <a:solidFill>
                            <a:schemeClr val="lt1"/>
                          </a:solidFill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camping_zones</a:t>
                      </a:r>
                      <a:endParaRPr lang="ko-KR" altLang="en-US" sz="1600" b="1" kern="1200" dirty="0">
                        <a:solidFill>
                          <a:schemeClr val="lt1"/>
                        </a:solidFill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454464"/>
                  </a:ext>
                </a:extLst>
              </a:tr>
              <a:tr h="3084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INT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PK, AUTO_INCREMENT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93997437"/>
                  </a:ext>
                </a:extLst>
              </a:tr>
              <a:tr h="3084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admin_id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INT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FK → admins.id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58484706"/>
                  </a:ext>
                </a:extLst>
              </a:tr>
              <a:tr h="3084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name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VARCHAR(100)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캠핑존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이름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43058007"/>
                  </a:ext>
                </a:extLst>
              </a:tr>
              <a:tr h="3084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description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TEXT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캠핑존 설명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5417476"/>
                  </a:ext>
                </a:extLst>
              </a:tr>
              <a:tr h="3084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capacity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INT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수용 인원 수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33922016"/>
                  </a:ext>
                </a:extLst>
              </a:tr>
              <a:tr h="3084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price_per_night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DECIMAL(10, 2)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1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박당 가격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60770227"/>
                  </a:ext>
                </a:extLst>
              </a:tr>
              <a:tr h="3084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type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TEXT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캠핑존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 유형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예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: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캠핑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,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글램핑 등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27973432"/>
                  </a:ext>
                </a:extLst>
              </a:tr>
              <a:tr h="3084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default_size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TEXT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기본 크기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예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: 4m x 6m)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32906434"/>
                  </a:ext>
                </a:extLst>
              </a:tr>
              <a:tr h="3084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floor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TEXT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바닥 종류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예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: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잔디 등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27626223"/>
                  </a:ext>
                </a:extLst>
              </a:tr>
              <a:tr h="3084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parking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TEXT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주차 정보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(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예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: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가능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,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불가 등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08652594"/>
                  </a:ext>
                </a:extLst>
              </a:tr>
              <a:tr h="3084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is_active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BOOLEAN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사용 가능 여부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66787366"/>
                  </a:ext>
                </a:extLst>
              </a:tr>
              <a:tr h="3084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created_dt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DATETIME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생성일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64533675"/>
                  </a:ext>
                </a:extLst>
              </a:tr>
              <a:tr h="3084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updated_dt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Microsoft GothicNeo" panose="020B0500000101010101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DATETIME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Microsoft GothicNeo" panose="020B0500000101010101" pitchFamily="50" charset="-127"/>
                        </a:rPr>
                        <a:t>수정일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65150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9712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96C10B-04F7-4E83-8C62-AD36EF95E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APP</a:t>
            </a:r>
            <a:r>
              <a:rPr lang="en-US" altLang="ko-KR" dirty="0"/>
              <a:t> 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인터페이스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A21D32A-CD8E-46C4-A843-6C50713C6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808" y="704739"/>
            <a:ext cx="646333" cy="646333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420ED4A5-B32E-45E9-8599-EAF6A2A9A971}"/>
              </a:ext>
            </a:extLst>
          </p:cNvPr>
          <p:cNvSpPr/>
          <p:nvPr/>
        </p:nvSpPr>
        <p:spPr>
          <a:xfrm>
            <a:off x="1018572" y="1481456"/>
            <a:ext cx="36487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1. 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회원 가입 및 사용자 별 테마 선택  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4AA5805-9DA9-41C0-A936-C341F0BCC420}"/>
              </a:ext>
            </a:extLst>
          </p:cNvPr>
          <p:cNvSpPr/>
          <p:nvPr/>
        </p:nvSpPr>
        <p:spPr>
          <a:xfrm>
            <a:off x="1018572" y="2222339"/>
            <a:ext cx="2095018" cy="4409955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D85A0C1-677B-43CD-B7C0-688D5AEBA677}"/>
              </a:ext>
            </a:extLst>
          </p:cNvPr>
          <p:cNvSpPr/>
          <p:nvPr/>
        </p:nvSpPr>
        <p:spPr>
          <a:xfrm>
            <a:off x="7857584" y="2222338"/>
            <a:ext cx="2095018" cy="4409955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A01B899-D26B-4741-A40A-7AFEB1901B5A}"/>
              </a:ext>
            </a:extLst>
          </p:cNvPr>
          <p:cNvSpPr/>
          <p:nvPr/>
        </p:nvSpPr>
        <p:spPr>
          <a:xfrm>
            <a:off x="5561787" y="2222338"/>
            <a:ext cx="2095018" cy="4409955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1C8C382-62D8-45E6-AC93-82B45628614D}"/>
              </a:ext>
            </a:extLst>
          </p:cNvPr>
          <p:cNvSpPr/>
          <p:nvPr/>
        </p:nvSpPr>
        <p:spPr>
          <a:xfrm>
            <a:off x="3265990" y="2222339"/>
            <a:ext cx="2095018" cy="4409955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6226310-FD62-4A2A-BEEB-22F5C76A46DA}"/>
              </a:ext>
            </a:extLst>
          </p:cNvPr>
          <p:cNvGrpSpPr/>
          <p:nvPr/>
        </p:nvGrpSpPr>
        <p:grpSpPr>
          <a:xfrm>
            <a:off x="6096000" y="601700"/>
            <a:ext cx="4872934" cy="1064422"/>
            <a:chOff x="7745604" y="2013739"/>
            <a:chExt cx="4872934" cy="1064422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4CE4138-1269-4F88-B42E-CBB7AD8957E2}"/>
                </a:ext>
              </a:extLst>
            </p:cNvPr>
            <p:cNvSpPr/>
            <p:nvPr/>
          </p:nvSpPr>
          <p:spPr>
            <a:xfrm>
              <a:off x="8455219" y="2222338"/>
              <a:ext cx="4163319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안녕하세요</a:t>
              </a:r>
              <a:r>
                <a:rPr lang="en-US" altLang="ko-KR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! </a:t>
              </a:r>
              <a:r>
                <a:rPr lang="ko-KR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저는 여러분의 캠핑을 도와 줄</a:t>
              </a:r>
              <a:endPara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endParaRPr>
            </a:p>
            <a:p>
              <a:r>
                <a:rPr lang="ko-KR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캠핑 </a:t>
              </a:r>
              <a:r>
                <a:rPr lang="ko-KR" altLang="en-US" sz="16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메이트의</a:t>
              </a:r>
              <a:r>
                <a:rPr lang="ko-KR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 </a:t>
              </a:r>
              <a:r>
                <a:rPr lang="ko-KR" altLang="en-US" sz="16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마스코트에요</a:t>
              </a:r>
              <a:r>
                <a:rPr lang="en-US" altLang="ko-KR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!</a:t>
              </a:r>
              <a:r>
                <a:rPr lang="ko-KR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 처음 가시는 분도</a:t>
              </a:r>
              <a:r>
                <a:rPr lang="en-US" altLang="ko-KR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,</a:t>
              </a:r>
            </a:p>
            <a:p>
              <a:r>
                <a:rPr lang="ko-KR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고수 </a:t>
              </a:r>
              <a:r>
                <a:rPr lang="ko-KR" altLang="en-US" sz="16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캠퍼도</a:t>
              </a:r>
              <a:r>
                <a:rPr lang="ko-KR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 걱정 없도록 도와 </a:t>
              </a:r>
              <a:r>
                <a:rPr lang="ko-KR" altLang="en-US" sz="16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드릴께요</a:t>
              </a:r>
              <a:r>
                <a:rPr lang="en-US" altLang="ko-KR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GothicNeo" panose="020B0500000101010101" pitchFamily="50" charset="-127"/>
                  <a:ea typeface="Microsoft GothicNeo" panose="020B0500000101010101" pitchFamily="50" charset="-127"/>
                  <a:cs typeface="Microsoft GothicNeo" panose="020B0500000101010101" pitchFamily="50" charset="-127"/>
                </a:rPr>
                <a:t>!</a:t>
              </a:r>
            </a:p>
          </p:txBody>
        </p:sp>
        <p:pic>
          <p:nvPicPr>
            <p:cNvPr id="14" name="Picture 5" descr="https://sdmntprsouthcentralus.oaiusercontent.com/files/00000000-0e94-61f7-a781-abd5c5a47646/raw?se=2025-05-02T06%3A14%3A14Z&amp;sp=r&amp;sv=2024-08-04&amp;sr=b&amp;scid=9561ca3e-69e8-554f-bb87-0ee7d4802189&amp;skoid=cbbaa726-4a2e-4147-932c-56e6e553f073&amp;sktid=a48cca56-e6da-484e-a814-9c849652bcb3&amp;skt=2025-05-02T03%3A25%3A05Z&amp;ske=2025-05-03T03%3A25%3A05Z&amp;sks=b&amp;skv=2024-08-04&amp;sig=FHfWjJoZ1o2fcY0LXfiDRW2QgYwVyhRA3M8r6EPNW4o%3D">
              <a:extLst>
                <a:ext uri="{FF2B5EF4-FFF2-40B4-BE49-F238E27FC236}">
                  <a16:creationId xmlns:a16="http://schemas.microsoft.com/office/drawing/2014/main" id="{E744DA0E-E0A3-4F74-BF33-D108C92623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45604" y="2013739"/>
              <a:ext cx="709615" cy="10644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69523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96C10B-04F7-4E83-8C62-AD36EF95E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APP</a:t>
            </a:r>
            <a:r>
              <a:rPr lang="en-US" altLang="ko-KR" dirty="0"/>
              <a:t> 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인터페이스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A21D32A-CD8E-46C4-A843-6C50713C6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808" y="704739"/>
            <a:ext cx="646333" cy="646333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420ED4A5-B32E-45E9-8599-EAF6A2A9A971}"/>
              </a:ext>
            </a:extLst>
          </p:cNvPr>
          <p:cNvSpPr/>
          <p:nvPr/>
        </p:nvSpPr>
        <p:spPr>
          <a:xfrm>
            <a:off x="1018572" y="1506022"/>
            <a:ext cx="36487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1. 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회원 가입 및 사용자 별 테마 선택  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4AA5805-9DA9-41C0-A936-C341F0BCC420}"/>
              </a:ext>
            </a:extLst>
          </p:cNvPr>
          <p:cNvSpPr/>
          <p:nvPr/>
        </p:nvSpPr>
        <p:spPr>
          <a:xfrm>
            <a:off x="1018572" y="2222339"/>
            <a:ext cx="2095018" cy="4409955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A01B899-D26B-4741-A40A-7AFEB1901B5A}"/>
              </a:ext>
            </a:extLst>
          </p:cNvPr>
          <p:cNvSpPr/>
          <p:nvPr/>
        </p:nvSpPr>
        <p:spPr>
          <a:xfrm>
            <a:off x="5561787" y="2222338"/>
            <a:ext cx="2095018" cy="4409955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1C8C382-62D8-45E6-AC93-82B45628614D}"/>
              </a:ext>
            </a:extLst>
          </p:cNvPr>
          <p:cNvSpPr/>
          <p:nvPr/>
        </p:nvSpPr>
        <p:spPr>
          <a:xfrm>
            <a:off x="3265990" y="2222339"/>
            <a:ext cx="2095018" cy="4409955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73D7693-1596-406B-8DE2-9F03D9A037BC}"/>
              </a:ext>
            </a:extLst>
          </p:cNvPr>
          <p:cNvSpPr/>
          <p:nvPr/>
        </p:nvSpPr>
        <p:spPr>
          <a:xfrm>
            <a:off x="7656805" y="2222338"/>
            <a:ext cx="4312399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기능 설명 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: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사용자는 간단한 회원 가입 과정을</a:t>
            </a: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통해 개인 계정을 생성 할 수 있으며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가입 후 캠핑</a:t>
            </a: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스타일에 맞춘 사용자 테마를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선택 합니다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</a:p>
          <a:p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선택에 맞춰 사용자에게 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TOP 5 </a:t>
            </a:r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캠핑장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리스트를</a:t>
            </a: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보여 줍니다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005989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96C10B-04F7-4E83-8C62-AD36EF95E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APP</a:t>
            </a:r>
            <a:r>
              <a:rPr lang="en-US" altLang="ko-KR" dirty="0"/>
              <a:t> 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인터페이스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A21D32A-CD8E-46C4-A843-6C50713C6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808" y="704739"/>
            <a:ext cx="646333" cy="646333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420ED4A5-B32E-45E9-8599-EAF6A2A9A971}"/>
              </a:ext>
            </a:extLst>
          </p:cNvPr>
          <p:cNvSpPr/>
          <p:nvPr/>
        </p:nvSpPr>
        <p:spPr>
          <a:xfrm>
            <a:off x="1018572" y="1587181"/>
            <a:ext cx="28488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2. 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홈 화면 및 캠핑 예약 화면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A01B899-D26B-4741-A40A-7AFEB1901B5A}"/>
              </a:ext>
            </a:extLst>
          </p:cNvPr>
          <p:cNvSpPr/>
          <p:nvPr/>
        </p:nvSpPr>
        <p:spPr>
          <a:xfrm>
            <a:off x="5561787" y="2222338"/>
            <a:ext cx="2095018" cy="4409955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1C8C382-62D8-45E6-AC93-82B45628614D}"/>
              </a:ext>
            </a:extLst>
          </p:cNvPr>
          <p:cNvSpPr/>
          <p:nvPr/>
        </p:nvSpPr>
        <p:spPr>
          <a:xfrm>
            <a:off x="3265990" y="2222339"/>
            <a:ext cx="2095018" cy="4409955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61A9E59-DACA-4D0D-9B97-C83DAD0A849A}"/>
              </a:ext>
            </a:extLst>
          </p:cNvPr>
          <p:cNvSpPr/>
          <p:nvPr/>
        </p:nvSpPr>
        <p:spPr>
          <a:xfrm>
            <a:off x="7883200" y="2222337"/>
            <a:ext cx="2095018" cy="4409955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6779BC5-5E36-4CDD-B63E-916AA0BB95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6681" y="2222337"/>
            <a:ext cx="1918530" cy="440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781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96C10B-04F7-4E83-8C62-AD36EF95E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APP</a:t>
            </a:r>
            <a:r>
              <a:rPr lang="en-US" altLang="ko-KR" dirty="0"/>
              <a:t> 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인터페이스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A21D32A-CD8E-46C4-A843-6C50713C6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808" y="704739"/>
            <a:ext cx="646333" cy="646333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420ED4A5-B32E-45E9-8599-EAF6A2A9A971}"/>
              </a:ext>
            </a:extLst>
          </p:cNvPr>
          <p:cNvSpPr/>
          <p:nvPr/>
        </p:nvSpPr>
        <p:spPr>
          <a:xfrm>
            <a:off x="1018572" y="1587181"/>
            <a:ext cx="28488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2. 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홈 화면 및 캠핑 예약 화면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4AA5805-9DA9-41C0-A936-C341F0BCC420}"/>
              </a:ext>
            </a:extLst>
          </p:cNvPr>
          <p:cNvSpPr/>
          <p:nvPr/>
        </p:nvSpPr>
        <p:spPr>
          <a:xfrm>
            <a:off x="1018572" y="2222339"/>
            <a:ext cx="2095018" cy="4409955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1C8C382-62D8-45E6-AC93-82B45628614D}"/>
              </a:ext>
            </a:extLst>
          </p:cNvPr>
          <p:cNvSpPr/>
          <p:nvPr/>
        </p:nvSpPr>
        <p:spPr>
          <a:xfrm>
            <a:off x="3265990" y="2222339"/>
            <a:ext cx="2095018" cy="4409955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</a:endParaRPr>
          </a:p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4540B9A-1DD5-4D25-833B-83DBA916ADC6}"/>
              </a:ext>
            </a:extLst>
          </p:cNvPr>
          <p:cNvSpPr/>
          <p:nvPr/>
        </p:nvSpPr>
        <p:spPr>
          <a:xfrm>
            <a:off x="5552141" y="2222339"/>
            <a:ext cx="61670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기능 설명 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: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홈 화면에는 사용자가 선택한 테마에 맞는 추천 캠핑장이</a:t>
            </a: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리스트 형태로 제공 됩니다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각 캠핑장은 썸네일과 함께 보여 집니다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1998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96C10B-04F7-4E83-8C62-AD36EF95E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APP</a:t>
            </a:r>
            <a:r>
              <a:rPr lang="en-US" altLang="ko-KR" dirty="0"/>
              <a:t> 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인터페이스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A21D32A-CD8E-46C4-A843-6C50713C6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808" y="704739"/>
            <a:ext cx="646333" cy="646333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420ED4A5-B32E-45E9-8599-EAF6A2A9A971}"/>
              </a:ext>
            </a:extLst>
          </p:cNvPr>
          <p:cNvSpPr/>
          <p:nvPr/>
        </p:nvSpPr>
        <p:spPr>
          <a:xfrm>
            <a:off x="1018572" y="1587181"/>
            <a:ext cx="27334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3. </a:t>
            </a:r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캠핑장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현재 위치의 날씨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CE324F2-06AC-4A40-928C-069F64E042A0}"/>
              </a:ext>
            </a:extLst>
          </p:cNvPr>
          <p:cNvSpPr/>
          <p:nvPr/>
        </p:nvSpPr>
        <p:spPr>
          <a:xfrm>
            <a:off x="3325004" y="2197873"/>
            <a:ext cx="808586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기능 설명 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: </a:t>
            </a:r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캠핑장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위치를 검색하여 미리 날씨를 확인할 수 있고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캠핑장에 도착해서도 현재</a:t>
            </a: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위치의 날씨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기온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 </a:t>
            </a:r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바람등의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정보를 제공 합니다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12E25F4-1176-4A73-A14C-FB8F073B8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693" y="2197873"/>
            <a:ext cx="2096311" cy="469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465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96C10B-04F7-4E83-8C62-AD36EF95E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APP</a:t>
            </a:r>
            <a:r>
              <a:rPr lang="en-US" altLang="ko-KR" dirty="0"/>
              <a:t> 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인터페이스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A21D32A-CD8E-46C4-A843-6C50713C6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808" y="704739"/>
            <a:ext cx="646333" cy="646333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420ED4A5-B32E-45E9-8599-EAF6A2A9A971}"/>
              </a:ext>
            </a:extLst>
          </p:cNvPr>
          <p:cNvSpPr/>
          <p:nvPr/>
        </p:nvSpPr>
        <p:spPr>
          <a:xfrm>
            <a:off x="1018572" y="1587181"/>
            <a:ext cx="43989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4. 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사용자 별 체크리스트 및 </a:t>
            </a:r>
            <a:r>
              <a:rPr lang="ko-KR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테마별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추천 용품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3BE540F-83F6-4FFB-83E1-A48DC94B8633}"/>
              </a:ext>
            </a:extLst>
          </p:cNvPr>
          <p:cNvSpPr/>
          <p:nvPr/>
        </p:nvSpPr>
        <p:spPr>
          <a:xfrm>
            <a:off x="5686240" y="2222339"/>
            <a:ext cx="6314549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기능 설명 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: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각 화면에 마스코트가 계속 떠있으며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</a:t>
            </a:r>
          </a:p>
          <a:p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상시로 체크리스트를 확인 할 수 있습니다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그리고</a:t>
            </a: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사용자가 직접 준비물을 체크리스트 형태로 관리 </a:t>
            </a:r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할수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있으며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,</a:t>
            </a:r>
          </a:p>
          <a:p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선택한 테마에 따라 추천 용품 목록도 자동으로 제시 됩니다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</a:p>
          <a:p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마지막으로 </a:t>
            </a:r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테마별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항목에서는 예를 들어 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“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감성 </a:t>
            </a:r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캠핑＂에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필요한 항목들도</a:t>
            </a:r>
            <a:endParaRPr lang="en-US" altLang="ko-KR" sz="1600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체크리스트에 추가 가능 합니다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42B6803-70E1-4CBD-96F6-EC0D75854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368" y="2161296"/>
            <a:ext cx="2003684" cy="457392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DA8F132-2CE5-4CCC-B651-8C26954CE0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8456" y="2192622"/>
            <a:ext cx="2003685" cy="454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1362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EFCFD-1F0D-B2F1-3673-3B53AD357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75BEFF-8BB1-AD05-F113-6B82C4188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APP</a:t>
            </a:r>
            <a:r>
              <a:rPr lang="en-US" altLang="ko-KR" dirty="0"/>
              <a:t> 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인터페이스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058C06A-256C-7A7D-0993-B7D7C4B052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808" y="704739"/>
            <a:ext cx="646333" cy="646333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1E27458A-A0C9-1D85-357E-432BD85F703B}"/>
              </a:ext>
            </a:extLst>
          </p:cNvPr>
          <p:cNvSpPr/>
          <p:nvPr/>
        </p:nvSpPr>
        <p:spPr>
          <a:xfrm>
            <a:off x="1018572" y="1587181"/>
            <a:ext cx="1976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5. </a:t>
            </a:r>
            <a:r>
              <a:rPr lang="en-US" altLang="ko-KR" b="1" dirty="0" err="1">
                <a:solidFill>
                  <a:srgbClr val="595959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Arimo Bold"/>
              </a:rPr>
              <a:t>활동기록</a:t>
            </a:r>
            <a:r>
              <a:rPr lang="en-US" altLang="ko-KR" b="1" dirty="0">
                <a:solidFill>
                  <a:srgbClr val="595959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Arimo Bold"/>
              </a:rPr>
              <a:t> </a:t>
            </a:r>
            <a:r>
              <a:rPr lang="ko-KR" altLang="en-US" b="1" dirty="0">
                <a:solidFill>
                  <a:srgbClr val="595959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Arimo Bold"/>
              </a:rPr>
              <a:t>페이지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DB50063-C072-D1C7-6D55-1F3FD0CECAF0}"/>
              </a:ext>
            </a:extLst>
          </p:cNvPr>
          <p:cNvSpPr/>
          <p:nvPr/>
        </p:nvSpPr>
        <p:spPr>
          <a:xfrm>
            <a:off x="3694545" y="2100211"/>
            <a:ext cx="6103274" cy="15542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9574" lvl="1" indent="-144787">
              <a:lnSpc>
                <a:spcPts val="1919"/>
              </a:lnSpc>
              <a:buFont typeface="Arial"/>
              <a:buChar char="•"/>
            </a:pPr>
            <a:r>
              <a:rPr lang="en-US" altLang="ko-KR" sz="1600" b="1" dirty="0" err="1">
                <a:solidFill>
                  <a:srgbClr val="595959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Arimo Bold"/>
              </a:rPr>
              <a:t>사용자가</a:t>
            </a:r>
            <a:r>
              <a:rPr lang="en-US" altLang="ko-KR" sz="1600" b="1" dirty="0">
                <a:solidFill>
                  <a:srgbClr val="595959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Arimo Bold"/>
              </a:rPr>
              <a:t> </a:t>
            </a:r>
            <a:r>
              <a:rPr lang="ko-KR" altLang="en-US" sz="1600" b="1" dirty="0">
                <a:solidFill>
                  <a:srgbClr val="595959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Arimo Bold"/>
              </a:rPr>
              <a:t>이용했던</a:t>
            </a:r>
            <a:r>
              <a:rPr lang="en-US" altLang="ko-KR" sz="1600" b="1" dirty="0">
                <a:solidFill>
                  <a:srgbClr val="595959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Arimo Bold"/>
              </a:rPr>
              <a:t> </a:t>
            </a:r>
            <a:r>
              <a:rPr lang="en-US" altLang="ko-KR" sz="1600" b="1" dirty="0" err="1">
                <a:solidFill>
                  <a:srgbClr val="595959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Arimo Bold"/>
              </a:rPr>
              <a:t>캠핑장</a:t>
            </a:r>
            <a:r>
              <a:rPr lang="en-US" altLang="ko-KR" sz="1600" b="1" dirty="0">
                <a:solidFill>
                  <a:srgbClr val="595959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Arimo Bold"/>
              </a:rPr>
              <a:t> </a:t>
            </a:r>
            <a:r>
              <a:rPr lang="en-US" altLang="ko-KR" sz="1600" b="1" dirty="0" err="1">
                <a:solidFill>
                  <a:srgbClr val="595959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Arimo Bold"/>
              </a:rPr>
              <a:t>정보를</a:t>
            </a:r>
            <a:r>
              <a:rPr lang="en-US" altLang="ko-KR" sz="1600" b="1" dirty="0">
                <a:solidFill>
                  <a:srgbClr val="595959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Arimo Bold"/>
              </a:rPr>
              <a:t> </a:t>
            </a:r>
            <a:r>
              <a:rPr lang="en-US" altLang="ko-KR" sz="1600" b="1" dirty="0" err="1">
                <a:solidFill>
                  <a:srgbClr val="595959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Arimo Bold"/>
              </a:rPr>
              <a:t>기록</a:t>
            </a:r>
            <a:r>
              <a:rPr lang="ko-KR" altLang="en-US" sz="1600" b="1" dirty="0">
                <a:solidFill>
                  <a:srgbClr val="595959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Arimo Bold"/>
              </a:rPr>
              <a:t>하여 </a:t>
            </a:r>
            <a:r>
              <a:rPr lang="en-US" altLang="ko-KR" sz="1600" b="1" dirty="0" err="1">
                <a:solidFill>
                  <a:srgbClr val="595959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Arimo Bold"/>
              </a:rPr>
              <a:t>보여줍니다</a:t>
            </a:r>
            <a:r>
              <a:rPr lang="en-US" altLang="ko-KR" sz="1600" b="1" dirty="0">
                <a:solidFill>
                  <a:srgbClr val="595959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Arimo Bold"/>
              </a:rPr>
              <a:t>.</a:t>
            </a:r>
          </a:p>
          <a:p>
            <a:pPr marL="289574" lvl="1" indent="-144787">
              <a:lnSpc>
                <a:spcPts val="1919"/>
              </a:lnSpc>
              <a:buFont typeface="Arial"/>
              <a:buChar char="•"/>
            </a:pPr>
            <a:endParaRPr lang="en-US" altLang="ko-KR" sz="1600" b="1" dirty="0">
              <a:solidFill>
                <a:srgbClr val="595959"/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  <a:sym typeface="Arimo Bold"/>
            </a:endParaRPr>
          </a:p>
          <a:p>
            <a:pPr marL="289574" lvl="1" indent="-144787">
              <a:lnSpc>
                <a:spcPts val="1919"/>
              </a:lnSpc>
              <a:buFont typeface="Arial"/>
              <a:buChar char="•"/>
            </a:pPr>
            <a:endParaRPr lang="en-US" altLang="ko-KR" sz="1600" b="1" dirty="0">
              <a:solidFill>
                <a:srgbClr val="595959"/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  <a:sym typeface="Arimo Bold"/>
            </a:endParaRPr>
          </a:p>
          <a:p>
            <a:pPr marL="289574" lvl="1" indent="-144787">
              <a:lnSpc>
                <a:spcPts val="1919"/>
              </a:lnSpc>
              <a:buFont typeface="Arial"/>
              <a:buChar char="•"/>
            </a:pPr>
            <a:r>
              <a:rPr lang="ko-KR" altLang="en-US" sz="1600" b="1" dirty="0">
                <a:solidFill>
                  <a:srgbClr val="595959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Arimo Bold"/>
              </a:rPr>
              <a:t>활동기록</a:t>
            </a:r>
            <a:r>
              <a:rPr lang="en-US" altLang="ko-KR" sz="1600" b="1" dirty="0">
                <a:solidFill>
                  <a:srgbClr val="595959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Arimo Bold"/>
              </a:rPr>
              <a:t>을 </a:t>
            </a:r>
            <a:r>
              <a:rPr lang="en-US" altLang="ko-KR" sz="1600" b="1" dirty="0" err="1">
                <a:solidFill>
                  <a:srgbClr val="595959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Arimo Bold"/>
              </a:rPr>
              <a:t>카드</a:t>
            </a:r>
            <a:r>
              <a:rPr lang="en-US" altLang="ko-KR" sz="1600" b="1" dirty="0">
                <a:solidFill>
                  <a:srgbClr val="595959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Arimo Bold"/>
              </a:rPr>
              <a:t> </a:t>
            </a:r>
            <a:r>
              <a:rPr lang="en-US" altLang="ko-KR" sz="1600" b="1" dirty="0" err="1">
                <a:solidFill>
                  <a:srgbClr val="595959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Arimo Bold"/>
              </a:rPr>
              <a:t>형태로</a:t>
            </a:r>
            <a:r>
              <a:rPr lang="en-US" altLang="ko-KR" sz="1600" b="1" dirty="0">
                <a:solidFill>
                  <a:srgbClr val="595959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Arimo Bold"/>
              </a:rPr>
              <a:t> </a:t>
            </a:r>
            <a:r>
              <a:rPr lang="en-US" altLang="ko-KR" sz="1600" b="1" dirty="0" err="1">
                <a:solidFill>
                  <a:srgbClr val="595959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Arimo Bold"/>
              </a:rPr>
              <a:t>정리</a:t>
            </a:r>
            <a:r>
              <a:rPr lang="ko-KR" altLang="en-US" sz="1600" b="1" dirty="0">
                <a:solidFill>
                  <a:srgbClr val="595959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Arimo Bold"/>
              </a:rPr>
              <a:t>하여</a:t>
            </a:r>
            <a:r>
              <a:rPr lang="en-US" altLang="ko-KR" sz="1600" b="1" dirty="0">
                <a:solidFill>
                  <a:srgbClr val="595959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Arimo Bold"/>
              </a:rPr>
              <a:t> </a:t>
            </a:r>
            <a:r>
              <a:rPr lang="en-US" altLang="ko-KR" sz="1600" b="1" dirty="0" err="1">
                <a:solidFill>
                  <a:srgbClr val="595959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Arimo Bold"/>
              </a:rPr>
              <a:t>쉽게</a:t>
            </a:r>
            <a:r>
              <a:rPr lang="en-US" altLang="ko-KR" sz="1600" b="1" dirty="0">
                <a:solidFill>
                  <a:srgbClr val="595959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Arimo Bold"/>
              </a:rPr>
              <a:t> </a:t>
            </a:r>
            <a:r>
              <a:rPr lang="en-US" altLang="ko-KR" sz="1600" b="1" dirty="0" err="1">
                <a:solidFill>
                  <a:srgbClr val="595959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Arimo Bold"/>
              </a:rPr>
              <a:t>확인할</a:t>
            </a:r>
            <a:r>
              <a:rPr lang="en-US" altLang="ko-KR" sz="1600" b="1" dirty="0">
                <a:solidFill>
                  <a:srgbClr val="595959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Arimo Bold"/>
              </a:rPr>
              <a:t> 수 있</a:t>
            </a:r>
            <a:r>
              <a:rPr lang="ko-KR" altLang="en-US" sz="1600" b="1" dirty="0" err="1">
                <a:solidFill>
                  <a:srgbClr val="595959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Arimo Bold"/>
              </a:rPr>
              <a:t>으며</a:t>
            </a:r>
            <a:endParaRPr lang="en-US" altLang="ko-KR" sz="1600" b="1" dirty="0">
              <a:solidFill>
                <a:srgbClr val="595959"/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  <a:sym typeface="Arimo Bold"/>
            </a:endParaRPr>
          </a:p>
          <a:p>
            <a:pPr marL="144787" lvl="1">
              <a:lnSpc>
                <a:spcPts val="1919"/>
              </a:lnSpc>
            </a:pPr>
            <a:r>
              <a:rPr lang="ko-KR" altLang="en-US" sz="1600" b="1" dirty="0">
                <a:solidFill>
                  <a:srgbClr val="595959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Arimo Bold"/>
              </a:rPr>
              <a:t>활동 기록 버튼을 클릭하여 사용자가 캠핑장을 이용했던 경험을 직접 </a:t>
            </a:r>
            <a:endParaRPr lang="en-US" altLang="ko-KR" sz="1600" b="1" dirty="0">
              <a:solidFill>
                <a:srgbClr val="595959"/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  <a:sym typeface="Arimo Bold"/>
            </a:endParaRPr>
          </a:p>
          <a:p>
            <a:pPr marL="144787" lvl="1">
              <a:lnSpc>
                <a:spcPts val="1919"/>
              </a:lnSpc>
            </a:pPr>
            <a:r>
              <a:rPr lang="ko-KR" altLang="en-US" sz="1600" b="1" dirty="0">
                <a:solidFill>
                  <a:srgbClr val="595959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Arimo Bold"/>
              </a:rPr>
              <a:t>수정하여 저장 할 수 있습니다</a:t>
            </a:r>
            <a:r>
              <a:rPr lang="en-US" altLang="ko-KR" sz="1600" b="1" dirty="0">
                <a:solidFill>
                  <a:srgbClr val="595959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Arimo Bold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D9FBD5F-E462-126D-9502-81FDD02F6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240" y="2100211"/>
            <a:ext cx="2730305" cy="4089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3471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C6705-B31B-A577-228E-588C51318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F8AD24-B630-894F-A3BF-DCA5809CD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APP</a:t>
            </a:r>
            <a:r>
              <a:rPr lang="en-US" altLang="ko-KR" dirty="0"/>
              <a:t> 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인터페이스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C55C1A0-4458-02D3-6495-B7ED068DC4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808" y="704739"/>
            <a:ext cx="646333" cy="646333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4865DBA5-961A-F152-E23F-3047E131B4D5}"/>
              </a:ext>
            </a:extLst>
          </p:cNvPr>
          <p:cNvSpPr/>
          <p:nvPr/>
        </p:nvSpPr>
        <p:spPr>
          <a:xfrm>
            <a:off x="1018572" y="1587181"/>
            <a:ext cx="20457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6. </a:t>
            </a:r>
            <a:r>
              <a:rPr lang="ko-KR" altLang="en-US" b="1" dirty="0">
                <a:solidFill>
                  <a:srgbClr val="595959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Arimo Bold"/>
              </a:rPr>
              <a:t>마이 페이지 기능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AF96087-8EB5-4CB5-6C79-504515F943CF}"/>
              </a:ext>
            </a:extLst>
          </p:cNvPr>
          <p:cNvSpPr/>
          <p:nvPr/>
        </p:nvSpPr>
        <p:spPr>
          <a:xfrm>
            <a:off x="3264295" y="1938336"/>
            <a:ext cx="6485493" cy="13106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9574" lvl="1" indent="-144787">
              <a:lnSpc>
                <a:spcPts val="1919"/>
              </a:lnSpc>
              <a:buFont typeface="Arial"/>
              <a:buChar char="•"/>
            </a:pP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마이페이지는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CampMate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사용자의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개인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정보를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한눈에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확인하고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, </a:t>
            </a:r>
          </a:p>
          <a:p>
            <a:pPr marL="144787" lvl="1">
              <a:lnSpc>
                <a:spcPts val="1919"/>
              </a:lnSpc>
            </a:pP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캠핑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예약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내역과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알림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설정을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관리할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 수 </a:t>
            </a: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있는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공간입니다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.</a:t>
            </a:r>
          </a:p>
          <a:p>
            <a:pPr marL="289574" lvl="1" indent="-144787">
              <a:lnSpc>
                <a:spcPts val="1919"/>
              </a:lnSpc>
              <a:buFont typeface="Arial"/>
              <a:buChar char="•"/>
            </a:pPr>
            <a:endParaRPr lang="en-US" altLang="ko-KR" sz="1600" b="1" dirty="0">
              <a:solidFill>
                <a:srgbClr val="595959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289574" lvl="1" indent="-144787">
              <a:lnSpc>
                <a:spcPts val="1919"/>
              </a:lnSpc>
              <a:buFont typeface="Arial"/>
              <a:buChar char="•"/>
            </a:pPr>
            <a:r>
              <a:rPr lang="ko-KR" altLang="en-US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각 페이지를 클릭하여 원하는 페이지로 이동할 수 있습니다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.</a:t>
            </a:r>
          </a:p>
          <a:p>
            <a:pPr marL="144787" lvl="1">
              <a:lnSpc>
                <a:spcPts val="1919"/>
              </a:lnSpc>
            </a:pP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(</a:t>
            </a:r>
            <a:r>
              <a:rPr lang="ko-KR" altLang="en-US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예약내역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, </a:t>
            </a:r>
            <a:r>
              <a:rPr lang="ko-KR" altLang="en-US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개인정보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, </a:t>
            </a:r>
            <a:r>
              <a:rPr lang="ko-KR" altLang="en-US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알림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, </a:t>
            </a:r>
            <a:r>
              <a:rPr lang="ko-KR" altLang="en-US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로그아웃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)</a:t>
            </a:r>
          </a:p>
        </p:txBody>
      </p:sp>
      <p:sp>
        <p:nvSpPr>
          <p:cNvPr id="5" name="Freeform 15">
            <a:extLst>
              <a:ext uri="{FF2B5EF4-FFF2-40B4-BE49-F238E27FC236}">
                <a16:creationId xmlns:a16="http://schemas.microsoft.com/office/drawing/2014/main" id="{99283F99-F62A-E3FB-0D25-22C4454A3DD0}"/>
              </a:ext>
            </a:extLst>
          </p:cNvPr>
          <p:cNvSpPr/>
          <p:nvPr/>
        </p:nvSpPr>
        <p:spPr>
          <a:xfrm>
            <a:off x="685800" y="1938336"/>
            <a:ext cx="2379853" cy="4278179"/>
          </a:xfrm>
          <a:custGeom>
            <a:avLst/>
            <a:gdLst/>
            <a:ahLst/>
            <a:cxnLst/>
            <a:rect l="l" t="t" r="r" b="b"/>
            <a:pathLst>
              <a:path w="3569779" h="6417268">
                <a:moveTo>
                  <a:pt x="0" y="0"/>
                </a:moveTo>
                <a:lnTo>
                  <a:pt x="3569779" y="0"/>
                </a:lnTo>
                <a:lnTo>
                  <a:pt x="3569779" y="6417267"/>
                </a:lnTo>
                <a:lnTo>
                  <a:pt x="0" y="64172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0321072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D46F5-550B-966C-EF9A-8C81DDCE8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BFE748-2E02-5B65-E5B3-6594FC930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APP</a:t>
            </a:r>
            <a:r>
              <a:rPr lang="en-US" altLang="ko-KR" dirty="0"/>
              <a:t> 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인터페이스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8D2EF70-7AA6-6E24-D3B2-E64C519503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808" y="704739"/>
            <a:ext cx="646333" cy="646333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5F285AD2-3A56-1DF5-F58D-C666A40F4A20}"/>
              </a:ext>
            </a:extLst>
          </p:cNvPr>
          <p:cNvSpPr/>
          <p:nvPr/>
        </p:nvSpPr>
        <p:spPr>
          <a:xfrm>
            <a:off x="1018572" y="1587181"/>
            <a:ext cx="20457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6. </a:t>
            </a:r>
            <a:r>
              <a:rPr lang="ko-KR" altLang="en-US" b="1" dirty="0">
                <a:solidFill>
                  <a:srgbClr val="595959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Arimo Bold"/>
              </a:rPr>
              <a:t>마이 페이지 기능</a:t>
            </a:r>
            <a:endParaRPr lang="en-US" altLang="ko-KR" b="1" dirty="0">
              <a:solidFill>
                <a:schemeClr val="tx1">
                  <a:lumMod val="65000"/>
                  <a:lumOff val="3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C7DA4E8-4AA4-ADDC-35D9-9BE071B5A2B7}"/>
              </a:ext>
            </a:extLst>
          </p:cNvPr>
          <p:cNvSpPr/>
          <p:nvPr/>
        </p:nvSpPr>
        <p:spPr>
          <a:xfrm>
            <a:off x="5605556" y="623729"/>
            <a:ext cx="5694829" cy="10669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9574" lvl="1" indent="-144787">
              <a:lnSpc>
                <a:spcPts val="1919"/>
              </a:lnSpc>
              <a:buFont typeface="Arial"/>
              <a:buChar char="•"/>
            </a:pP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예약내역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 : </a:t>
            </a:r>
            <a:r>
              <a:rPr lang="ko-KR" altLang="en-US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사용자가 </a:t>
            </a: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예약</a:t>
            </a:r>
            <a:r>
              <a:rPr lang="ko-KR" altLang="en-US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했던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캠핑장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목록과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일정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확인</a:t>
            </a:r>
            <a:endParaRPr lang="en-US" altLang="ko-KR" sz="1600" b="1" dirty="0">
              <a:solidFill>
                <a:srgbClr val="595959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289574" lvl="1" indent="-144787">
              <a:lnSpc>
                <a:spcPts val="1919"/>
              </a:lnSpc>
              <a:buFont typeface="Arial"/>
              <a:buChar char="•"/>
            </a:pP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개인정보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 : </a:t>
            </a: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이메일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, </a:t>
            </a:r>
            <a:r>
              <a:rPr lang="ko-KR" altLang="en-US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사용자별 테마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 등 내 </a:t>
            </a: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정보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ko-KR" altLang="en-US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확인 및 수정</a:t>
            </a:r>
            <a:endParaRPr lang="en-US" altLang="ko-KR" sz="1600" b="1" dirty="0">
              <a:solidFill>
                <a:srgbClr val="595959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289574" lvl="1" indent="-144787">
              <a:lnSpc>
                <a:spcPts val="1919"/>
              </a:lnSpc>
              <a:buFont typeface="Arial"/>
              <a:buChar char="•"/>
            </a:pP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알림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 : </a:t>
            </a:r>
            <a:r>
              <a:rPr lang="ko-KR" altLang="en-US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예약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, </a:t>
            </a:r>
            <a:r>
              <a:rPr lang="ko-KR" altLang="en-US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날씨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 등 앱 </a:t>
            </a: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알림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ko-KR" altLang="en-US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확인</a:t>
            </a:r>
            <a:endParaRPr lang="en-US" altLang="ko-KR" sz="1600" b="1" dirty="0">
              <a:solidFill>
                <a:srgbClr val="595959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289574" lvl="1" indent="-144787">
              <a:lnSpc>
                <a:spcPts val="1919"/>
              </a:lnSpc>
              <a:buFont typeface="Arial"/>
              <a:buChar char="•"/>
            </a:pP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로그아웃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 : </a:t>
            </a: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계정에서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안전하게</a:t>
            </a:r>
            <a:r>
              <a:rPr lang="en-US" altLang="ko-KR" sz="1600" b="1" dirty="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altLang="ko-KR" sz="1600" b="1" dirty="0" err="1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로그아웃</a:t>
            </a:r>
            <a:endParaRPr lang="en-US" altLang="ko-KR" sz="1600" b="1" dirty="0">
              <a:solidFill>
                <a:srgbClr val="595959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5" name="Freeform 12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24CA6179-1D60-417C-57B0-995C2D427470}"/>
              </a:ext>
            </a:extLst>
          </p:cNvPr>
          <p:cNvSpPr/>
          <p:nvPr/>
        </p:nvSpPr>
        <p:spPr>
          <a:xfrm>
            <a:off x="479663" y="2104295"/>
            <a:ext cx="3166156" cy="4349479"/>
          </a:xfrm>
          <a:custGeom>
            <a:avLst/>
            <a:gdLst/>
            <a:ahLst/>
            <a:cxnLst/>
            <a:rect l="l" t="t" r="r" b="b"/>
            <a:pathLst>
              <a:path w="4749234" h="6524219">
                <a:moveTo>
                  <a:pt x="0" y="0"/>
                </a:moveTo>
                <a:lnTo>
                  <a:pt x="4749234" y="0"/>
                </a:lnTo>
                <a:lnTo>
                  <a:pt x="4749234" y="6524218"/>
                </a:lnTo>
                <a:lnTo>
                  <a:pt x="0" y="65242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" r="-25" b="-9246"/>
            </a:stretch>
          </a:blipFill>
        </p:spPr>
        <p:txBody>
          <a:bodyPr/>
          <a:lstStyle/>
          <a:p>
            <a:endParaRPr lang="ko-KR" altLang="en-US" sz="1200"/>
          </a:p>
        </p:txBody>
      </p:sp>
      <p:sp>
        <p:nvSpPr>
          <p:cNvPr id="6" name="Freeform 13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2AE58414-F44E-0F7D-D303-679B4671C88D}"/>
              </a:ext>
            </a:extLst>
          </p:cNvPr>
          <p:cNvSpPr/>
          <p:nvPr/>
        </p:nvSpPr>
        <p:spPr>
          <a:xfrm>
            <a:off x="3645820" y="2104294"/>
            <a:ext cx="3030455" cy="4349479"/>
          </a:xfrm>
          <a:custGeom>
            <a:avLst/>
            <a:gdLst/>
            <a:ahLst/>
            <a:cxnLst/>
            <a:rect l="l" t="t" r="r" b="b"/>
            <a:pathLst>
              <a:path w="4545683" h="6524219">
                <a:moveTo>
                  <a:pt x="0" y="0"/>
                </a:moveTo>
                <a:lnTo>
                  <a:pt x="4545683" y="0"/>
                </a:lnTo>
                <a:lnTo>
                  <a:pt x="4545683" y="6524219"/>
                </a:lnTo>
                <a:lnTo>
                  <a:pt x="0" y="65242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61" r="-861" b="-6311"/>
            </a:stretch>
          </a:blipFill>
        </p:spPr>
        <p:txBody>
          <a:bodyPr/>
          <a:lstStyle/>
          <a:p>
            <a:endParaRPr lang="ko-KR" altLang="en-US" sz="1200"/>
          </a:p>
        </p:txBody>
      </p:sp>
      <p:sp>
        <p:nvSpPr>
          <p:cNvPr id="7" name="Freeform 14" descr="텍스트, 스크린샷, 폰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8B864BC1-C8D0-C274-1208-7B53D342FE4A}"/>
              </a:ext>
            </a:extLst>
          </p:cNvPr>
          <p:cNvSpPr/>
          <p:nvPr/>
        </p:nvSpPr>
        <p:spPr>
          <a:xfrm>
            <a:off x="6676275" y="2104294"/>
            <a:ext cx="2407481" cy="4349479"/>
          </a:xfrm>
          <a:custGeom>
            <a:avLst/>
            <a:gdLst/>
            <a:ahLst/>
            <a:cxnLst/>
            <a:rect l="l" t="t" r="r" b="b"/>
            <a:pathLst>
              <a:path w="3611221" h="6524219">
                <a:moveTo>
                  <a:pt x="0" y="0"/>
                </a:moveTo>
                <a:lnTo>
                  <a:pt x="3611221" y="0"/>
                </a:lnTo>
                <a:lnTo>
                  <a:pt x="3611221" y="6524219"/>
                </a:lnTo>
                <a:lnTo>
                  <a:pt x="0" y="65242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221" r="-10221"/>
            </a:stretch>
          </a:blipFill>
        </p:spPr>
        <p:txBody>
          <a:bodyPr/>
          <a:lstStyle/>
          <a:p>
            <a:endParaRPr lang="ko-KR" altLang="en-US" sz="1200"/>
          </a:p>
        </p:txBody>
      </p:sp>
      <p:sp>
        <p:nvSpPr>
          <p:cNvPr id="8" name="Freeform 15" descr="텍스트, 스크린샷, 폰트, 직사각형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F2CA1895-842F-67DE-CEA0-E36487B7E7D1}"/>
              </a:ext>
            </a:extLst>
          </p:cNvPr>
          <p:cNvSpPr/>
          <p:nvPr/>
        </p:nvSpPr>
        <p:spPr>
          <a:xfrm>
            <a:off x="9083756" y="2104294"/>
            <a:ext cx="2412962" cy="4349479"/>
          </a:xfrm>
          <a:custGeom>
            <a:avLst/>
            <a:gdLst/>
            <a:ahLst/>
            <a:cxnLst/>
            <a:rect l="l" t="t" r="r" b="b"/>
            <a:pathLst>
              <a:path w="3619443" h="6524219">
                <a:moveTo>
                  <a:pt x="0" y="0"/>
                </a:moveTo>
                <a:lnTo>
                  <a:pt x="3619444" y="0"/>
                </a:lnTo>
                <a:lnTo>
                  <a:pt x="3619444" y="6524219"/>
                </a:lnTo>
                <a:lnTo>
                  <a:pt x="0" y="65242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084" r="-10084"/>
            </a:stretch>
          </a:blipFill>
        </p:spPr>
        <p:txBody>
          <a:bodyPr/>
          <a:lstStyle/>
          <a:p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493695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4991</TotalTime>
  <Words>1206</Words>
  <Application>Microsoft Office PowerPoint</Application>
  <PresentationFormat>와이드스크린</PresentationFormat>
  <Paragraphs>262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2" baseType="lpstr">
      <vt:lpstr>Microsoft GothicNeo</vt:lpstr>
      <vt:lpstr>맑은 고딕</vt:lpstr>
      <vt:lpstr>ADLaM Display</vt:lpstr>
      <vt:lpstr>AngsanaUPC</vt:lpstr>
      <vt:lpstr>Arial</vt:lpstr>
      <vt:lpstr>Arial Black</vt:lpstr>
      <vt:lpstr>Arimo Bold</vt:lpstr>
      <vt:lpstr>Calibri</vt:lpstr>
      <vt:lpstr>Calibri Light</vt:lpstr>
      <vt:lpstr>Office 2013 - 2022 테마</vt:lpstr>
      <vt:lpstr>포레스트팀  작품 기획서</vt:lpstr>
      <vt:lpstr>목차</vt:lpstr>
      <vt:lpstr>팀원 구성 및 역할</vt:lpstr>
      <vt:lpstr>작품 개요 및 개발 동기  [CampMate]</vt:lpstr>
      <vt:lpstr>유사 작품 비교 분석</vt:lpstr>
      <vt:lpstr>시스템 구성도 및 사용 API</vt:lpstr>
      <vt:lpstr>시스템 구성도 및 사용 API</vt:lpstr>
      <vt:lpstr>관리자 페이지 인터페이스 </vt:lpstr>
      <vt:lpstr>관리자 페이지 인터페이스 </vt:lpstr>
      <vt:lpstr>관리자 페이지 인터페이스 </vt:lpstr>
      <vt:lpstr>관리자 페이지 인터페이스 </vt:lpstr>
      <vt:lpstr>데이터베이스 설계</vt:lpstr>
      <vt:lpstr>데이터베이스 설계</vt:lpstr>
      <vt:lpstr>APP 인터페이스 </vt:lpstr>
      <vt:lpstr>APP 인터페이스 </vt:lpstr>
      <vt:lpstr>APP 인터페이스 </vt:lpstr>
      <vt:lpstr>APP 인터페이스 </vt:lpstr>
      <vt:lpstr>APP 인터페이스 </vt:lpstr>
      <vt:lpstr>APP 인터페이스 </vt:lpstr>
      <vt:lpstr>APP 인터페이스 </vt:lpstr>
      <vt:lpstr>APP 인터페이스 </vt:lpstr>
      <vt:lpstr>APP 인터페이스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박상돈</cp:lastModifiedBy>
  <cp:revision>245</cp:revision>
  <dcterms:created xsi:type="dcterms:W3CDTF">2025-03-30T10:47:56Z</dcterms:created>
  <dcterms:modified xsi:type="dcterms:W3CDTF">2025-05-06T08:52:30Z</dcterms:modified>
</cp:coreProperties>
</file>